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8"/>
  </p:notesMasterIdLst>
  <p:handoutMasterIdLst>
    <p:handoutMasterId r:id="rId39"/>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41" r:id="rId34"/>
    <p:sldId id="342" r:id="rId35"/>
    <p:sldId id="343" r:id="rId36"/>
    <p:sldId id="304"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its-nishar/Seasonal_Agriculture_Performance_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275074" y="5005677"/>
            <a:ext cx="6544406" cy="861497"/>
          </a:xfrm>
        </p:spPr>
        <p:txBody>
          <a:bodyPr vert="horz" lIns="91440" tIns="45720" rIns="91440" bIns="45720" rtlCol="0" anchor="t">
            <a:normAutofit fontScale="85000" lnSpcReduction="20000"/>
          </a:bodyPr>
          <a:lstStyle/>
          <a:p>
            <a:r>
              <a:rPr lang="en-US" sz="1600" b="0" dirty="0">
                <a:solidFill>
                  <a:schemeClr val="tx1"/>
                </a:solidFill>
              </a:rPr>
              <a:t>STUDENT NAME : NISHA R</a:t>
            </a:r>
          </a:p>
          <a:p>
            <a:r>
              <a:rPr lang="en-US" sz="1600" b="0" dirty="0">
                <a:solidFill>
                  <a:schemeClr val="tx1"/>
                </a:solidFill>
              </a:rPr>
              <a:t>AICTE STUDENT ID : </a:t>
            </a:r>
            <a:r>
              <a:rPr lang="en-IN" sz="1600" b="0" dirty="0">
                <a:solidFill>
                  <a:schemeClr val="tx1"/>
                </a:solidFill>
              </a:rPr>
              <a:t>STU6a6b5fa76dafc1785421735</a:t>
            </a:r>
            <a:endParaRPr lang="en-US" sz="1600" b="0" dirty="0">
              <a:solidFill>
                <a:schemeClr val="tx1"/>
              </a:solidFill>
            </a:endParaRPr>
          </a:p>
          <a:p>
            <a:r>
              <a:rPr lang="en-US" sz="1600" b="0" dirty="0">
                <a:solidFill>
                  <a:schemeClr val="tx1"/>
                </a:solidFill>
              </a:rPr>
              <a:t>COLLEGE NAME : RAMCO INSTITUTE OF TECHNOLOGY</a:t>
            </a:r>
            <a:endParaRPr lang="en-IN" sz="16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63555" y="2743932"/>
            <a:ext cx="8820199" cy="685068"/>
          </a:xfrm>
        </p:spPr>
        <p:txBody>
          <a:bodyPr>
            <a:normAutofit/>
          </a:bodyPr>
          <a:lstStyle/>
          <a:p>
            <a:r>
              <a:rPr lang="en-IN" b="1"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9878" y="1506894"/>
            <a:ext cx="10217019" cy="4965026"/>
          </a:xfrm>
        </p:spPr>
        <p:txBody>
          <a:bodyPr vert="horz" lIns="91440" tIns="45720" rIns="91440" bIns="45720" rtlCol="0" anchor="t">
            <a:normAutofit/>
          </a:bodyPr>
          <a:lstStyle/>
          <a:p>
            <a:r>
              <a:rPr lang="en-IN" sz="1600" dirty="0"/>
              <a:t>Agricultural performance is influenced by seasonal variations in environmental conditions, farming practices, resource availability and market conditions.</a:t>
            </a:r>
          </a:p>
          <a:p>
            <a:r>
              <a:rPr lang="en-IN" sz="1600" dirty="0"/>
              <a:t>However, raw agricultural data does not clearly explain:</a:t>
            </a:r>
          </a:p>
          <a:p>
            <a:pPr lvl="2">
              <a:buFont typeface="Wingdings" panose="05000000000000000000" pitchFamily="2" charset="2"/>
              <a:buChar char="Ø"/>
            </a:pPr>
            <a:r>
              <a:rPr lang="en-IN" dirty="0"/>
              <a:t>How agricultural performance varies across seasons </a:t>
            </a:r>
          </a:p>
          <a:p>
            <a:pPr lvl="2">
              <a:buFont typeface="Wingdings" panose="05000000000000000000" pitchFamily="2" charset="2"/>
              <a:buChar char="Ø"/>
            </a:pPr>
            <a:r>
              <a:rPr lang="en-IN" dirty="0"/>
              <a:t>Which seasonal patterns are significant </a:t>
            </a:r>
          </a:p>
          <a:p>
            <a:pPr lvl="2">
              <a:buFont typeface="Wingdings" panose="05000000000000000000" pitchFamily="2" charset="2"/>
              <a:buChar char="Ø"/>
            </a:pPr>
            <a:r>
              <a:rPr lang="en-IN" dirty="0"/>
              <a:t>How environmental conditions affect outcomes </a:t>
            </a:r>
          </a:p>
          <a:p>
            <a:pPr lvl="2">
              <a:buFont typeface="Wingdings" panose="05000000000000000000" pitchFamily="2" charset="2"/>
              <a:buChar char="Ø"/>
            </a:pPr>
            <a:r>
              <a:rPr lang="en-IN" dirty="0"/>
              <a:t>How resource usage changes between seasons </a:t>
            </a:r>
          </a:p>
          <a:p>
            <a:pPr lvl="2">
              <a:buFont typeface="Wingdings" panose="05000000000000000000" pitchFamily="2" charset="2"/>
              <a:buChar char="Ø"/>
            </a:pPr>
            <a:r>
              <a:rPr lang="en-IN" dirty="0"/>
              <a:t>How economic performance varies </a:t>
            </a:r>
          </a:p>
          <a:p>
            <a:pPr lvl="2">
              <a:buFont typeface="Wingdings" panose="05000000000000000000" pitchFamily="2" charset="2"/>
              <a:buChar char="Ø"/>
            </a:pPr>
            <a:r>
              <a:rPr lang="en-IN" dirty="0"/>
              <a:t>Whether seasonal patterns differ across regions and crops </a:t>
            </a:r>
          </a:p>
          <a:p>
            <a:pPr marL="0" indent="0">
              <a:buNone/>
            </a:pPr>
            <a:endParaRPr lang="en-IN" sz="1600" dirty="0"/>
          </a:p>
          <a:p>
            <a:pPr marL="0" indent="0">
              <a:buNone/>
            </a:pPr>
            <a:r>
              <a:rPr lang="en-IN" sz="1600" dirty="0"/>
              <a:t>Therefore, this project analyses agricultural data to identify meaningful seasonal patterns, relationships and variations and derive evidence-based insights for better agricultural planning.</a:t>
            </a:r>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575328"/>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431242" y="2915359"/>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1000"/>
                                        <p:tgtEl>
                                          <p:spTgt spid="2">
                                            <p:txEl>
                                              <p:pRg st="3" end="3"/>
                                            </p:txEl>
                                          </p:spTgt>
                                        </p:tgtEl>
                                      </p:cBhvr>
                                    </p:animEffect>
                                    <p:anim calcmode="lin" valueType="num">
                                      <p:cBhvr>
                                        <p:cTn id="3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fade">
                                      <p:cBhvr>
                                        <p:cTn id="36" dur="1000"/>
                                        <p:tgtEl>
                                          <p:spTgt spid="2">
                                            <p:txEl>
                                              <p:pRg st="4" end="4"/>
                                            </p:txEl>
                                          </p:spTgt>
                                        </p:tgtEl>
                                      </p:cBhvr>
                                    </p:animEffect>
                                    <p:anim calcmode="lin" valueType="num">
                                      <p:cBhvr>
                                        <p:cTn id="3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
                                            <p:txEl>
                                              <p:pRg st="5" end="5"/>
                                            </p:txEl>
                                          </p:spTgt>
                                        </p:tgtEl>
                                        <p:attrNameLst>
                                          <p:attrName>style.visibility</p:attrName>
                                        </p:attrNameLst>
                                      </p:cBhvr>
                                      <p:to>
                                        <p:strVal val="visible"/>
                                      </p:to>
                                    </p:set>
                                    <p:animEffect transition="in" filter="fade">
                                      <p:cBhvr>
                                        <p:cTn id="41" dur="1000"/>
                                        <p:tgtEl>
                                          <p:spTgt spid="2">
                                            <p:txEl>
                                              <p:pRg st="5" end="5"/>
                                            </p:txEl>
                                          </p:spTgt>
                                        </p:tgtEl>
                                      </p:cBhvr>
                                    </p:animEffect>
                                    <p:anim calcmode="lin" valueType="num">
                                      <p:cBhvr>
                                        <p:cTn id="42"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5" end="5"/>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
                                            <p:txEl>
                                              <p:pRg st="6" end="6"/>
                                            </p:txEl>
                                          </p:spTgt>
                                        </p:tgtEl>
                                        <p:attrNameLst>
                                          <p:attrName>style.visibility</p:attrName>
                                        </p:attrNameLst>
                                      </p:cBhvr>
                                      <p:to>
                                        <p:strVal val="visible"/>
                                      </p:to>
                                    </p:set>
                                    <p:animEffect transition="in" filter="fade">
                                      <p:cBhvr>
                                        <p:cTn id="46" dur="1000"/>
                                        <p:tgtEl>
                                          <p:spTgt spid="2">
                                            <p:txEl>
                                              <p:pRg st="6" end="6"/>
                                            </p:txEl>
                                          </p:spTgt>
                                        </p:tgtEl>
                                      </p:cBhvr>
                                    </p:animEffect>
                                    <p:anim calcmode="lin" valueType="num">
                                      <p:cBhvr>
                                        <p:cTn id="4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
                                            <p:txEl>
                                              <p:pRg st="7" end="7"/>
                                            </p:txEl>
                                          </p:spTgt>
                                        </p:tgtEl>
                                        <p:attrNameLst>
                                          <p:attrName>style.visibility</p:attrName>
                                        </p:attrNameLst>
                                      </p:cBhvr>
                                      <p:to>
                                        <p:strVal val="visible"/>
                                      </p:to>
                                    </p:set>
                                    <p:animEffect transition="in" filter="fade">
                                      <p:cBhvr>
                                        <p:cTn id="51" dur="1000"/>
                                        <p:tgtEl>
                                          <p:spTgt spid="2">
                                            <p:txEl>
                                              <p:pRg st="7" end="7"/>
                                            </p:txEl>
                                          </p:spTgt>
                                        </p:tgtEl>
                                      </p:cBhvr>
                                    </p:animEffect>
                                    <p:anim calcmode="lin" valueType="num">
                                      <p:cBhvr>
                                        <p:cTn id="52"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
                                            <p:txEl>
                                              <p:pRg st="9" end="9"/>
                                            </p:txEl>
                                          </p:spTgt>
                                        </p:tgtEl>
                                        <p:attrNameLst>
                                          <p:attrName>style.visibility</p:attrName>
                                        </p:attrNameLst>
                                      </p:cBhvr>
                                      <p:to>
                                        <p:strVal val="visible"/>
                                      </p:to>
                                    </p:set>
                                    <p:animEffect transition="in" filter="fade">
                                      <p:cBhvr>
                                        <p:cTn id="58" dur="1000"/>
                                        <p:tgtEl>
                                          <p:spTgt spid="2">
                                            <p:txEl>
                                              <p:pRg st="9" end="9"/>
                                            </p:txEl>
                                          </p:spTgt>
                                        </p:tgtEl>
                                      </p:cBhvr>
                                    </p:animEffect>
                                    <p:anim calcmode="lin" valueType="num">
                                      <p:cBhvr>
                                        <p:cTn id="59"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76423" y="441319"/>
            <a:ext cx="6276109" cy="830997"/>
          </a:xfrm>
        </p:spPr>
        <p:txBody>
          <a:bodyPr>
            <a:normAutofit fontScale="90000"/>
          </a:bodyPr>
          <a:lstStyle/>
          <a:p>
            <a:r>
              <a:rPr lang="en-GB" dirty="0"/>
              <a:t>PROJECT DESCRIPTION</a:t>
            </a:r>
            <a:br>
              <a:rPr lang="en-GB" dirty="0"/>
            </a:br>
            <a:br>
              <a:rPr lang="en-GB" dirty="0"/>
            </a:br>
            <a:br>
              <a:rPr lang="en-IN" sz="1800" b="0" dirty="0"/>
            </a:br>
            <a:endParaRPr lang="en-IN" sz="18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9" name="TextBox 8">
            <a:extLst>
              <a:ext uri="{FF2B5EF4-FFF2-40B4-BE49-F238E27FC236}">
                <a16:creationId xmlns:a16="http://schemas.microsoft.com/office/drawing/2014/main" id="{34C1528E-1EAB-0146-2780-F87883DFF0A4}"/>
              </a:ext>
            </a:extLst>
          </p:cNvPr>
          <p:cNvSpPr txBox="1"/>
          <p:nvPr/>
        </p:nvSpPr>
        <p:spPr>
          <a:xfrm>
            <a:off x="576423" y="1623527"/>
            <a:ext cx="8520924" cy="1805473"/>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8C6FBEA7-0AD6-7E4D-A84A-0A4C7CA94CD0}"/>
              </a:ext>
            </a:extLst>
          </p:cNvPr>
          <p:cNvSpPr txBox="1"/>
          <p:nvPr/>
        </p:nvSpPr>
        <p:spPr>
          <a:xfrm>
            <a:off x="728823" y="1775927"/>
            <a:ext cx="8520924" cy="1805473"/>
          </a:xfrm>
          <a:prstGeom prst="rect">
            <a:avLst/>
          </a:prstGeom>
          <a:noFill/>
        </p:spPr>
        <p:txBody>
          <a:bodyPr wrap="square" rtlCol="0">
            <a:spAutoFit/>
          </a:bodyPr>
          <a:lstStyle/>
          <a:p>
            <a:endParaRPr lang="en-IN" dirty="0"/>
          </a:p>
        </p:txBody>
      </p:sp>
      <p:sp>
        <p:nvSpPr>
          <p:cNvPr id="14" name="TextBox 13">
            <a:extLst>
              <a:ext uri="{FF2B5EF4-FFF2-40B4-BE49-F238E27FC236}">
                <a16:creationId xmlns:a16="http://schemas.microsoft.com/office/drawing/2014/main" id="{DA54D4C6-BD5B-0789-F830-CC8130C80B92}"/>
              </a:ext>
            </a:extLst>
          </p:cNvPr>
          <p:cNvSpPr txBox="1"/>
          <p:nvPr/>
        </p:nvSpPr>
        <p:spPr>
          <a:xfrm>
            <a:off x="675957" y="1272316"/>
            <a:ext cx="10147553" cy="4308872"/>
          </a:xfrm>
          <a:prstGeom prst="rect">
            <a:avLst/>
          </a:prstGeom>
          <a:noFill/>
        </p:spPr>
        <p:txBody>
          <a:bodyPr wrap="square" rtlCol="0">
            <a:spAutoFit/>
          </a:bodyPr>
          <a:lstStyle/>
          <a:p>
            <a:pPr marL="285750" indent="-285750">
              <a:buClr>
                <a:schemeClr val="accent3">
                  <a:lumMod val="75000"/>
                </a:schemeClr>
              </a:buClr>
              <a:buFont typeface="Wingdings" panose="05000000000000000000" pitchFamily="2" charset="2"/>
              <a:buChar char="§"/>
            </a:pPr>
            <a:r>
              <a:rPr lang="en-IN" sz="1600" dirty="0"/>
              <a:t>This project performs an end-to-end analysis of agricultural activities across different seasons using data analytics techniques.</a:t>
            </a:r>
          </a:p>
          <a:p>
            <a:endParaRPr lang="en-IN" sz="1600" dirty="0"/>
          </a:p>
          <a:p>
            <a:pPr marL="285750" indent="-285750">
              <a:buClr>
                <a:schemeClr val="accent3">
                  <a:lumMod val="75000"/>
                </a:schemeClr>
              </a:buClr>
              <a:buFont typeface="Wingdings" panose="05000000000000000000" pitchFamily="2" charset="2"/>
              <a:buChar char="§"/>
            </a:pPr>
            <a:r>
              <a:rPr lang="en-IN" sz="1600" dirty="0"/>
              <a:t>The analysis covers:</a:t>
            </a:r>
          </a:p>
          <a:p>
            <a:pPr lvl="3"/>
            <a:r>
              <a:rPr lang="en-IN" sz="1600" dirty="0"/>
              <a:t>🌾 Crop and agricultural performance </a:t>
            </a:r>
          </a:p>
          <a:p>
            <a:pPr lvl="3"/>
            <a:r>
              <a:rPr lang="en-IN" sz="1600" dirty="0"/>
              <a:t>🌦️ Environmental conditions </a:t>
            </a:r>
          </a:p>
          <a:p>
            <a:pPr lvl="3"/>
            <a:r>
              <a:rPr lang="en-IN" sz="1600" dirty="0"/>
              <a:t>💧 Water and resource utilization </a:t>
            </a:r>
          </a:p>
          <a:p>
            <a:pPr lvl="3"/>
            <a:r>
              <a:rPr lang="en-IN" sz="1600" dirty="0"/>
              <a:t>🧪 Fertilizer and pesticide usage </a:t>
            </a:r>
          </a:p>
          <a:p>
            <a:pPr lvl="3"/>
            <a:r>
              <a:rPr lang="en-IN" sz="1600" dirty="0"/>
              <a:t>🌱 Soil characteristics </a:t>
            </a:r>
          </a:p>
          <a:p>
            <a:pPr lvl="3"/>
            <a:r>
              <a:rPr lang="en-IN" sz="1600" dirty="0"/>
              <a:t>📈 Yield and production </a:t>
            </a:r>
          </a:p>
          <a:p>
            <a:pPr lvl="3"/>
            <a:r>
              <a:rPr lang="en-IN" sz="1600" dirty="0"/>
              <a:t>💰 Cost, revenue and profit </a:t>
            </a:r>
          </a:p>
          <a:p>
            <a:pPr lvl="3"/>
            <a:r>
              <a:rPr lang="en-IN" sz="1600" dirty="0"/>
              <a:t>🗺️ Regional variations </a:t>
            </a:r>
          </a:p>
          <a:p>
            <a:pPr lvl="3"/>
            <a:r>
              <a:rPr lang="en-IN" sz="1600" dirty="0"/>
              <a:t>⚠️ Disease and pest risk </a:t>
            </a:r>
          </a:p>
          <a:p>
            <a:pPr lvl="3"/>
            <a:endParaRPr lang="en-IN" sz="1600" dirty="0"/>
          </a:p>
          <a:p>
            <a:pPr marL="285750" indent="-285750">
              <a:buClr>
                <a:schemeClr val="accent3">
                  <a:lumMod val="75000"/>
                </a:schemeClr>
              </a:buClr>
              <a:buFont typeface="Wingdings" panose="05000000000000000000" pitchFamily="2" charset="2"/>
              <a:buChar char="§"/>
            </a:pPr>
            <a:r>
              <a:rPr lang="en-IN" sz="1600" dirty="0"/>
              <a:t>The project transforms raw agricultural data into seasonal insights, performance comparisons and data-driven recommendations.</a:t>
            </a:r>
          </a:p>
          <a:p>
            <a:endParaRPr lang="en-IN" b="1"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42728" y="1091430"/>
            <a:ext cx="10726016" cy="4889954"/>
          </a:xfrm>
        </p:spPr>
        <p:txBody>
          <a:bodyPr>
            <a:normAutofit/>
          </a:bodyPr>
          <a:lstStyle/>
          <a:p>
            <a:r>
              <a:rPr lang="en-IN" sz="1600" b="1" dirty="0"/>
              <a:t>Farmers</a:t>
            </a:r>
            <a:r>
              <a:rPr lang="en-IN" sz="1600" dirty="0"/>
              <a:t> 🌾</a:t>
            </a:r>
          </a:p>
          <a:p>
            <a:pPr lvl="2">
              <a:buFont typeface="Wingdings" panose="05000000000000000000" pitchFamily="2" charset="2"/>
              <a:buChar char="Ø"/>
            </a:pPr>
            <a:r>
              <a:rPr lang="en-IN" dirty="0"/>
              <a:t>Understand seasonal crop performance </a:t>
            </a:r>
          </a:p>
          <a:p>
            <a:pPr lvl="2">
              <a:buFont typeface="Wingdings" panose="05000000000000000000" pitchFamily="2" charset="2"/>
              <a:buChar char="Ø"/>
            </a:pPr>
            <a:r>
              <a:rPr lang="en-IN" dirty="0"/>
              <a:t>Plan resources such as water and fertilizer</a:t>
            </a:r>
          </a:p>
          <a:p>
            <a:r>
              <a:rPr lang="en-IN" sz="1600" b="1" dirty="0"/>
              <a:t>Agricultural Planners</a:t>
            </a:r>
            <a:r>
              <a:rPr lang="en-IN" sz="1600" dirty="0"/>
              <a:t> 📊</a:t>
            </a:r>
          </a:p>
          <a:p>
            <a:pPr lvl="2">
              <a:buFont typeface="Wingdings" panose="05000000000000000000" pitchFamily="2" charset="2"/>
              <a:buChar char="Ø"/>
            </a:pPr>
            <a:r>
              <a:rPr lang="en-IN" dirty="0"/>
              <a:t>Compare agricultural performance across seasons and regions </a:t>
            </a:r>
          </a:p>
          <a:p>
            <a:pPr lvl="2">
              <a:buFont typeface="Wingdings" panose="05000000000000000000" pitchFamily="2" charset="2"/>
              <a:buChar char="Ø"/>
            </a:pPr>
            <a:r>
              <a:rPr lang="en-IN" dirty="0"/>
              <a:t>Support seasonal resource and production planning</a:t>
            </a:r>
          </a:p>
          <a:p>
            <a:r>
              <a:rPr lang="en-IN" sz="1600" b="1" dirty="0"/>
              <a:t>Agricultural Researchers</a:t>
            </a:r>
            <a:r>
              <a:rPr lang="en-IN" sz="1600" dirty="0"/>
              <a:t> 🔬</a:t>
            </a:r>
          </a:p>
          <a:p>
            <a:pPr lvl="2">
              <a:buFont typeface="Wingdings" panose="05000000000000000000" pitchFamily="2" charset="2"/>
              <a:buChar char="Ø"/>
            </a:pPr>
            <a:r>
              <a:rPr lang="en-IN" dirty="0"/>
              <a:t>Study relationships between environmental conditions, farming practices and agricultural outcomes </a:t>
            </a:r>
          </a:p>
          <a:p>
            <a:pPr lvl="2">
              <a:buFont typeface="Wingdings" panose="05000000000000000000" pitchFamily="2" charset="2"/>
              <a:buChar char="Ø"/>
            </a:pPr>
            <a:r>
              <a:rPr lang="en-IN" dirty="0"/>
              <a:t>Identify seasonal patterns for further research</a:t>
            </a:r>
          </a:p>
          <a:p>
            <a:r>
              <a:rPr lang="en-IN" sz="1600" b="1" dirty="0"/>
              <a:t>Agricultural Organizations / Departments</a:t>
            </a:r>
            <a:r>
              <a:rPr lang="en-IN" sz="1600" dirty="0"/>
              <a:t> 🏛️</a:t>
            </a:r>
          </a:p>
          <a:p>
            <a:pPr lvl="2">
              <a:buFont typeface="Wingdings" panose="05000000000000000000" pitchFamily="2" charset="2"/>
              <a:buChar char="Ø"/>
            </a:pPr>
            <a:r>
              <a:rPr lang="en-IN" dirty="0"/>
              <a:t>Use data-driven insights for agricultural planning and resource allocation </a:t>
            </a:r>
          </a:p>
          <a:p>
            <a:pPr lvl="2">
              <a:buFont typeface="Wingdings" panose="05000000000000000000" pitchFamily="2" charset="2"/>
              <a:buChar char="Ø"/>
            </a:pPr>
            <a:r>
              <a:rPr lang="en-IN" dirty="0"/>
              <a:t>Identify regions or seasons requiring attention</a:t>
            </a:r>
          </a:p>
          <a:p>
            <a:pPr marL="914400" lvl="2" indent="0">
              <a:buNone/>
            </a:pPr>
            <a:endParaRPr lang="en-IN" dirty="0"/>
          </a:p>
          <a:p>
            <a:pPr marL="914400" lvl="2" indent="0">
              <a:buNone/>
            </a:pPr>
            <a:endParaRPr lang="en-IN" dirty="0"/>
          </a:p>
          <a:p>
            <a:pPr marL="914400" lvl="2" indent="0">
              <a:buNone/>
            </a:pPr>
            <a:endParaRPr lang="en-IN" dirty="0"/>
          </a:p>
          <a:p>
            <a:pPr marL="0" indent="0" algn="just">
              <a:buNone/>
            </a:pPr>
            <a:endParaRPr lang="en-IN" sz="1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42727" y="288788"/>
            <a:ext cx="10046070" cy="802641"/>
          </a:xfrm>
        </p:spPr>
        <p:txBody>
          <a:bodyPr>
            <a:normAutofit/>
          </a:bodyPr>
          <a:lstStyle/>
          <a:p>
            <a:r>
              <a:rPr lang="en-US" sz="4300" dirty="0"/>
              <a:t>WHO ARE THE END USERS?</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fade">
                                      <p:cBhvr>
                                        <p:cTn id="24" dur="1000"/>
                                        <p:tgtEl>
                                          <p:spTgt spid="2">
                                            <p:txEl>
                                              <p:pRg st="2" end="2"/>
                                            </p:txEl>
                                          </p:spTgt>
                                        </p:tgtEl>
                                      </p:cBhvr>
                                    </p:animEffect>
                                    <p:anim calcmode="lin" valueType="num">
                                      <p:cBhvr>
                                        <p:cTn id="2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1000"/>
                                        <p:tgtEl>
                                          <p:spTgt spid="2">
                                            <p:txEl>
                                              <p:pRg st="3" end="3"/>
                                            </p:txEl>
                                          </p:spTgt>
                                        </p:tgtEl>
                                      </p:cBhvr>
                                    </p:animEffect>
                                    <p:anim calcmode="lin" valueType="num">
                                      <p:cBhvr>
                                        <p:cTn id="3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fade">
                                      <p:cBhvr>
                                        <p:cTn id="36" dur="1000"/>
                                        <p:tgtEl>
                                          <p:spTgt spid="2">
                                            <p:txEl>
                                              <p:pRg st="4" end="4"/>
                                            </p:txEl>
                                          </p:spTgt>
                                        </p:tgtEl>
                                      </p:cBhvr>
                                    </p:animEffect>
                                    <p:anim calcmode="lin" valueType="num">
                                      <p:cBhvr>
                                        <p:cTn id="37"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
                                            <p:txEl>
                                              <p:pRg st="5" end="5"/>
                                            </p:txEl>
                                          </p:spTgt>
                                        </p:tgtEl>
                                        <p:attrNameLst>
                                          <p:attrName>style.visibility</p:attrName>
                                        </p:attrNameLst>
                                      </p:cBhvr>
                                      <p:to>
                                        <p:strVal val="visible"/>
                                      </p:to>
                                    </p:set>
                                    <p:animEffect transition="in" filter="fade">
                                      <p:cBhvr>
                                        <p:cTn id="41" dur="1000"/>
                                        <p:tgtEl>
                                          <p:spTgt spid="2">
                                            <p:txEl>
                                              <p:pRg st="5" end="5"/>
                                            </p:txEl>
                                          </p:spTgt>
                                        </p:tgtEl>
                                      </p:cBhvr>
                                    </p:animEffect>
                                    <p:anim calcmode="lin" valueType="num">
                                      <p:cBhvr>
                                        <p:cTn id="42"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
                                            <p:txEl>
                                              <p:pRg st="6" end="6"/>
                                            </p:txEl>
                                          </p:spTgt>
                                        </p:tgtEl>
                                        <p:attrNameLst>
                                          <p:attrName>style.visibility</p:attrName>
                                        </p:attrNameLst>
                                      </p:cBhvr>
                                      <p:to>
                                        <p:strVal val="visible"/>
                                      </p:to>
                                    </p:set>
                                    <p:animEffect transition="in" filter="fade">
                                      <p:cBhvr>
                                        <p:cTn id="48" dur="1000"/>
                                        <p:tgtEl>
                                          <p:spTgt spid="2">
                                            <p:txEl>
                                              <p:pRg st="6" end="6"/>
                                            </p:txEl>
                                          </p:spTgt>
                                        </p:tgtEl>
                                      </p:cBhvr>
                                    </p:animEffect>
                                    <p:anim calcmode="lin" valueType="num">
                                      <p:cBhvr>
                                        <p:cTn id="4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6" end="6"/>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
                                            <p:txEl>
                                              <p:pRg st="7" end="7"/>
                                            </p:txEl>
                                          </p:spTgt>
                                        </p:tgtEl>
                                        <p:attrNameLst>
                                          <p:attrName>style.visibility</p:attrName>
                                        </p:attrNameLst>
                                      </p:cBhvr>
                                      <p:to>
                                        <p:strVal val="visible"/>
                                      </p:to>
                                    </p:set>
                                    <p:animEffect transition="in" filter="fade">
                                      <p:cBhvr>
                                        <p:cTn id="53" dur="1000"/>
                                        <p:tgtEl>
                                          <p:spTgt spid="2">
                                            <p:txEl>
                                              <p:pRg st="7" end="7"/>
                                            </p:txEl>
                                          </p:spTgt>
                                        </p:tgtEl>
                                      </p:cBhvr>
                                    </p:animEffect>
                                    <p:anim calcmode="lin" valueType="num">
                                      <p:cBhvr>
                                        <p:cTn id="5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5" dur="1000" fill="hold"/>
                                        <p:tgtEl>
                                          <p:spTgt spid="2">
                                            <p:txEl>
                                              <p:pRg st="7" end="7"/>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
                                            <p:txEl>
                                              <p:pRg st="8" end="8"/>
                                            </p:txEl>
                                          </p:spTgt>
                                        </p:tgtEl>
                                        <p:attrNameLst>
                                          <p:attrName>style.visibility</p:attrName>
                                        </p:attrNameLst>
                                      </p:cBhvr>
                                      <p:to>
                                        <p:strVal val="visible"/>
                                      </p:to>
                                    </p:set>
                                    <p:animEffect transition="in" filter="fade">
                                      <p:cBhvr>
                                        <p:cTn id="58" dur="1000"/>
                                        <p:tgtEl>
                                          <p:spTgt spid="2">
                                            <p:txEl>
                                              <p:pRg st="8" end="8"/>
                                            </p:txEl>
                                          </p:spTgt>
                                        </p:tgtEl>
                                      </p:cBhvr>
                                    </p:animEffect>
                                    <p:anim calcmode="lin" valueType="num">
                                      <p:cBhvr>
                                        <p:cTn id="59"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0"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2">
                                            <p:txEl>
                                              <p:pRg st="9" end="9"/>
                                            </p:txEl>
                                          </p:spTgt>
                                        </p:tgtEl>
                                        <p:attrNameLst>
                                          <p:attrName>style.visibility</p:attrName>
                                        </p:attrNameLst>
                                      </p:cBhvr>
                                      <p:to>
                                        <p:strVal val="visible"/>
                                      </p:to>
                                    </p:set>
                                    <p:animEffect transition="in" filter="fade">
                                      <p:cBhvr>
                                        <p:cTn id="65" dur="1000"/>
                                        <p:tgtEl>
                                          <p:spTgt spid="2">
                                            <p:txEl>
                                              <p:pRg st="9" end="9"/>
                                            </p:txEl>
                                          </p:spTgt>
                                        </p:tgtEl>
                                      </p:cBhvr>
                                    </p:animEffect>
                                    <p:anim calcmode="lin" valueType="num">
                                      <p:cBhvr>
                                        <p:cTn id="66"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7" dur="1000" fill="hold"/>
                                        <p:tgtEl>
                                          <p:spTgt spid="2">
                                            <p:txEl>
                                              <p:pRg st="9" end="9"/>
                                            </p:tx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
                                            <p:txEl>
                                              <p:pRg st="10" end="10"/>
                                            </p:txEl>
                                          </p:spTgt>
                                        </p:tgtEl>
                                        <p:attrNameLst>
                                          <p:attrName>style.visibility</p:attrName>
                                        </p:attrNameLst>
                                      </p:cBhvr>
                                      <p:to>
                                        <p:strVal val="visible"/>
                                      </p:to>
                                    </p:set>
                                    <p:animEffect transition="in" filter="fade">
                                      <p:cBhvr>
                                        <p:cTn id="70" dur="1000"/>
                                        <p:tgtEl>
                                          <p:spTgt spid="2">
                                            <p:txEl>
                                              <p:pRg st="10" end="10"/>
                                            </p:txEl>
                                          </p:spTgt>
                                        </p:tgtEl>
                                      </p:cBhvr>
                                    </p:animEffect>
                                    <p:anim calcmode="lin" valueType="num">
                                      <p:cBhvr>
                                        <p:cTn id="71"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
                                            <p:txEl>
                                              <p:pRg st="11" end="11"/>
                                            </p:txEl>
                                          </p:spTgt>
                                        </p:tgtEl>
                                        <p:attrNameLst>
                                          <p:attrName>style.visibility</p:attrName>
                                        </p:attrNameLst>
                                      </p:cBhvr>
                                      <p:to>
                                        <p:strVal val="visible"/>
                                      </p:to>
                                    </p:set>
                                    <p:animEffect transition="in" filter="fade">
                                      <p:cBhvr>
                                        <p:cTn id="75" dur="1000"/>
                                        <p:tgtEl>
                                          <p:spTgt spid="2">
                                            <p:txEl>
                                              <p:pRg st="11" end="11"/>
                                            </p:txEl>
                                          </p:spTgt>
                                        </p:tgtEl>
                                      </p:cBhvr>
                                    </p:animEffect>
                                    <p:anim calcmode="lin" valueType="num">
                                      <p:cBhvr>
                                        <p:cTn id="76"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77"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530220"/>
            <a:ext cx="7640320" cy="3853543"/>
          </a:xfrm>
        </p:spPr>
        <p:txBody>
          <a:bodyPr>
            <a:normAutofit/>
          </a:bodyPr>
          <a:lstStyle/>
          <a:p>
            <a:pPr lvl="1">
              <a:lnSpc>
                <a:spcPct val="100000"/>
              </a:lnSpc>
            </a:pPr>
            <a:r>
              <a:rPr lang="en-IN" sz="1600" b="1" dirty="0"/>
              <a:t>Python</a:t>
            </a:r>
            <a:r>
              <a:rPr lang="en-IN" sz="1600" dirty="0"/>
              <a:t> – Main programming language for data analysis.</a:t>
            </a:r>
          </a:p>
          <a:p>
            <a:pPr lvl="5">
              <a:buClr>
                <a:schemeClr val="accent3">
                  <a:lumMod val="75000"/>
                </a:schemeClr>
              </a:buClr>
              <a:buFont typeface="Wingdings" panose="05000000000000000000" pitchFamily="2" charset="2"/>
              <a:buChar char="Ø"/>
            </a:pPr>
            <a:r>
              <a:rPr lang="en-IN" sz="1600" dirty="0"/>
              <a:t>Pandas</a:t>
            </a:r>
          </a:p>
          <a:p>
            <a:pPr lvl="5">
              <a:buClr>
                <a:schemeClr val="accent3">
                  <a:lumMod val="75000"/>
                </a:schemeClr>
              </a:buClr>
              <a:buFont typeface="Wingdings" panose="05000000000000000000" pitchFamily="2" charset="2"/>
              <a:buChar char="Ø"/>
            </a:pPr>
            <a:r>
              <a:rPr lang="en-IN" sz="1600" dirty="0"/>
              <a:t>NumPy</a:t>
            </a:r>
          </a:p>
          <a:p>
            <a:pPr lvl="5">
              <a:buClr>
                <a:schemeClr val="accent3">
                  <a:lumMod val="75000"/>
                </a:schemeClr>
              </a:buClr>
              <a:buFont typeface="Wingdings" panose="05000000000000000000" pitchFamily="2" charset="2"/>
              <a:buChar char="Ø"/>
            </a:pPr>
            <a:r>
              <a:rPr lang="en-IN" sz="1600" dirty="0"/>
              <a:t>Matplotlib</a:t>
            </a:r>
          </a:p>
          <a:p>
            <a:pPr lvl="5">
              <a:buClr>
                <a:schemeClr val="accent3">
                  <a:lumMod val="75000"/>
                </a:schemeClr>
              </a:buClr>
              <a:buFont typeface="Wingdings" panose="05000000000000000000" pitchFamily="2" charset="2"/>
              <a:buChar char="Ø"/>
            </a:pPr>
            <a:r>
              <a:rPr lang="en-IN" sz="1600" dirty="0"/>
              <a:t>Seaborn</a:t>
            </a:r>
          </a:p>
          <a:p>
            <a:pPr lvl="5">
              <a:buClr>
                <a:schemeClr val="accent3">
                  <a:lumMod val="75000"/>
                </a:schemeClr>
              </a:buClr>
              <a:buFont typeface="Wingdings" panose="05000000000000000000" pitchFamily="2" charset="2"/>
              <a:buChar char="Ø"/>
            </a:pPr>
            <a:r>
              <a:rPr lang="en-IN" sz="1600" dirty="0"/>
              <a:t>SciPy</a:t>
            </a:r>
          </a:p>
          <a:p>
            <a:pPr lvl="5">
              <a:buClr>
                <a:schemeClr val="accent3">
                  <a:lumMod val="75000"/>
                </a:schemeClr>
              </a:buClr>
              <a:buFont typeface="Wingdings" panose="05000000000000000000" pitchFamily="2" charset="2"/>
              <a:buChar char="Ø"/>
            </a:pPr>
            <a:r>
              <a:rPr lang="en-IN" sz="1600" dirty="0"/>
              <a:t>Google </a:t>
            </a:r>
            <a:r>
              <a:rPr lang="en-IN" sz="1600" dirty="0" err="1"/>
              <a:t>Colab</a:t>
            </a:r>
            <a:endParaRPr lang="en-IN" sz="1600" dirty="0"/>
          </a:p>
          <a:p>
            <a:pPr lvl="1">
              <a:lnSpc>
                <a:spcPct val="100000"/>
              </a:lnSpc>
            </a:pPr>
            <a:r>
              <a:rPr lang="en-IN" sz="1600" b="1" dirty="0"/>
              <a:t>GitHub</a:t>
            </a:r>
            <a:r>
              <a:rPr lang="en-IN" sz="1600" dirty="0"/>
              <a:t> – Version control and project/code repository.</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43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43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942C7E63-DD7B-8004-4D3C-6087265D8CE5}"/>
              </a:ext>
            </a:extLst>
          </p:cNvPr>
          <p:cNvPicPr>
            <a:picLocks noChangeAspect="1"/>
          </p:cNvPicPr>
          <p:nvPr/>
        </p:nvPicPr>
        <p:blipFill>
          <a:blip r:embed="rId3"/>
          <a:srcRect l="1455"/>
          <a:stretch>
            <a:fillRect/>
          </a:stretch>
        </p:blipFill>
        <p:spPr>
          <a:xfrm>
            <a:off x="2261003" y="1793676"/>
            <a:ext cx="3131569" cy="1508891"/>
          </a:xfrm>
          <a:prstGeom prst="rect">
            <a:avLst/>
          </a:prstGeom>
        </p:spPr>
      </p:pic>
      <p:sp>
        <p:nvSpPr>
          <p:cNvPr id="11" name="TextBox 10">
            <a:extLst>
              <a:ext uri="{FF2B5EF4-FFF2-40B4-BE49-F238E27FC236}">
                <a16:creationId xmlns:a16="http://schemas.microsoft.com/office/drawing/2014/main" id="{4394370C-F41F-60C9-FA98-DBC2F6333AD5}"/>
              </a:ext>
            </a:extLst>
          </p:cNvPr>
          <p:cNvSpPr txBox="1"/>
          <p:nvPr/>
        </p:nvSpPr>
        <p:spPr>
          <a:xfrm>
            <a:off x="978514" y="1275371"/>
            <a:ext cx="1840568" cy="369332"/>
          </a:xfrm>
          <a:prstGeom prst="rect">
            <a:avLst/>
          </a:prstGeom>
          <a:noFill/>
        </p:spPr>
        <p:txBody>
          <a:bodyPr wrap="none" rtlCol="0">
            <a:spAutoFit/>
          </a:bodyPr>
          <a:lstStyle/>
          <a:p>
            <a:r>
              <a:rPr lang="en-IN" dirty="0"/>
              <a:t>Import Libraries</a:t>
            </a:r>
          </a:p>
        </p:txBody>
      </p:sp>
      <p:sp>
        <p:nvSpPr>
          <p:cNvPr id="12" name="TextBox 11">
            <a:extLst>
              <a:ext uri="{FF2B5EF4-FFF2-40B4-BE49-F238E27FC236}">
                <a16:creationId xmlns:a16="http://schemas.microsoft.com/office/drawing/2014/main" id="{ED746122-12A8-2BFD-E069-2F74E138DEE9}"/>
              </a:ext>
            </a:extLst>
          </p:cNvPr>
          <p:cNvSpPr txBox="1"/>
          <p:nvPr/>
        </p:nvSpPr>
        <p:spPr>
          <a:xfrm>
            <a:off x="913879" y="3671899"/>
            <a:ext cx="9666514" cy="2308324"/>
          </a:xfrm>
          <a:prstGeom prst="rect">
            <a:avLst/>
          </a:prstGeom>
          <a:noFill/>
        </p:spPr>
        <p:txBody>
          <a:bodyPr wrap="square" rtlCol="0">
            <a:spAutoFit/>
          </a:bodyPr>
          <a:lstStyle/>
          <a:p>
            <a:r>
              <a:rPr lang="en-IN" sz="1600" dirty="0"/>
              <a:t>The required Python libraries were imported to support data loading, preprocessing, statistical analysis, numerical computation, and visualization of the agricultural dataset.</a:t>
            </a:r>
          </a:p>
          <a:p>
            <a:endParaRPr lang="en-IN" sz="1600" dirty="0"/>
          </a:p>
          <a:p>
            <a:pPr marL="2114550" lvl="4" indent="-285750">
              <a:buFont typeface="Wingdings" panose="05000000000000000000" pitchFamily="2" charset="2"/>
              <a:buChar char="Ø"/>
            </a:pPr>
            <a:r>
              <a:rPr lang="en-IN" sz="1600" dirty="0"/>
              <a:t>Pandas – Data manipulation and analysis </a:t>
            </a:r>
          </a:p>
          <a:p>
            <a:pPr marL="2114550" lvl="4" indent="-285750">
              <a:buFont typeface="Wingdings" panose="05000000000000000000" pitchFamily="2" charset="2"/>
              <a:buChar char="Ø"/>
            </a:pPr>
            <a:r>
              <a:rPr lang="en-IN" sz="1600" dirty="0"/>
              <a:t>NumPy – Numerical computations </a:t>
            </a:r>
          </a:p>
          <a:p>
            <a:pPr marL="2114550" lvl="4" indent="-285750">
              <a:buFont typeface="Wingdings" panose="05000000000000000000" pitchFamily="2" charset="2"/>
              <a:buChar char="Ø"/>
            </a:pPr>
            <a:r>
              <a:rPr lang="en-IN" sz="1600" dirty="0"/>
              <a:t>Matplotlib – Data visualization </a:t>
            </a:r>
          </a:p>
          <a:p>
            <a:pPr marL="2114550" lvl="4" indent="-285750">
              <a:buFont typeface="Wingdings" panose="05000000000000000000" pitchFamily="2" charset="2"/>
              <a:buChar char="Ø"/>
            </a:pPr>
            <a:r>
              <a:rPr lang="en-IN" sz="1600" dirty="0"/>
              <a:t>Seaborn – Statistical visualization </a:t>
            </a:r>
          </a:p>
          <a:p>
            <a:pPr marL="2114550" lvl="4" indent="-285750">
              <a:buFont typeface="Wingdings" panose="05000000000000000000" pitchFamily="2" charset="2"/>
              <a:buChar char="Ø"/>
            </a:pPr>
            <a:r>
              <a:rPr lang="en-IN" sz="1600" dirty="0"/>
              <a:t>SciPy – Statistical analysis and hypothesis testing</a:t>
            </a:r>
          </a:p>
          <a:p>
            <a:endParaRPr lang="en-IN" sz="16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201586"/>
            <a:ext cx="4275138" cy="477520"/>
          </a:xfrm>
        </p:spPr>
        <p:txBody>
          <a:bodyPr>
            <a:normAutofit/>
          </a:bodyPr>
          <a:lstStyle/>
          <a:p>
            <a:pPr marL="0" indent="0">
              <a:buNone/>
            </a:pPr>
            <a:r>
              <a:rPr lang="en-IN" sz="1800" dirty="0"/>
              <a:t>Load Dataset</a:t>
            </a:r>
          </a:p>
        </p:txBody>
      </p:sp>
      <p:pic>
        <p:nvPicPr>
          <p:cNvPr id="3" name="Picture 2">
            <a:extLst>
              <a:ext uri="{FF2B5EF4-FFF2-40B4-BE49-F238E27FC236}">
                <a16:creationId xmlns:a16="http://schemas.microsoft.com/office/drawing/2014/main" id="{B4A77CCC-6DC4-3697-2410-62DC232E59F3}"/>
              </a:ext>
            </a:extLst>
          </p:cNvPr>
          <p:cNvPicPr>
            <a:picLocks noChangeAspect="1"/>
          </p:cNvPicPr>
          <p:nvPr/>
        </p:nvPicPr>
        <p:blipFill>
          <a:blip r:embed="rId3"/>
          <a:stretch>
            <a:fillRect/>
          </a:stretch>
        </p:blipFill>
        <p:spPr>
          <a:xfrm>
            <a:off x="1317846" y="1766887"/>
            <a:ext cx="4778154" cy="1981351"/>
          </a:xfrm>
          <a:prstGeom prst="rect">
            <a:avLst/>
          </a:prstGeom>
        </p:spPr>
      </p:pic>
      <p:sp>
        <p:nvSpPr>
          <p:cNvPr id="6" name="TextBox 5">
            <a:extLst>
              <a:ext uri="{FF2B5EF4-FFF2-40B4-BE49-F238E27FC236}">
                <a16:creationId xmlns:a16="http://schemas.microsoft.com/office/drawing/2014/main" id="{42189940-CC75-2C81-4C7F-03F13BC43ACB}"/>
              </a:ext>
            </a:extLst>
          </p:cNvPr>
          <p:cNvSpPr txBox="1"/>
          <p:nvPr/>
        </p:nvSpPr>
        <p:spPr>
          <a:xfrm>
            <a:off x="1171362" y="4225758"/>
            <a:ext cx="5071122" cy="1323439"/>
          </a:xfrm>
          <a:prstGeom prst="rect">
            <a:avLst/>
          </a:prstGeom>
          <a:noFill/>
        </p:spPr>
        <p:txBody>
          <a:bodyPr wrap="square" rtlCol="0">
            <a:spAutoFit/>
          </a:bodyPr>
          <a:lstStyle/>
          <a:p>
            <a:r>
              <a:rPr lang="en-IN" sz="1600" dirty="0"/>
              <a:t>Dataset: Seasonal Agricultural Performance Dataset</a:t>
            </a:r>
            <a:br>
              <a:rPr lang="en-IN" sz="1600" dirty="0"/>
            </a:br>
            <a:r>
              <a:rPr lang="en-IN" sz="1600" dirty="0"/>
              <a:t>Records: 4,000</a:t>
            </a:r>
            <a:br>
              <a:rPr lang="en-IN" sz="1600" dirty="0"/>
            </a:br>
            <a:r>
              <a:rPr lang="en-IN" sz="1600" dirty="0"/>
              <a:t>Features: 28</a:t>
            </a:r>
            <a:br>
              <a:rPr lang="en-IN" sz="1600" dirty="0"/>
            </a:br>
            <a:r>
              <a:rPr lang="en-IN" sz="1600" dirty="0"/>
              <a:t>Analysis: Seasonal, environmental, resource, economic, regional and crop-level analysis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72478" y="1130890"/>
            <a:ext cx="4275138" cy="477520"/>
          </a:xfrm>
        </p:spPr>
        <p:txBody>
          <a:bodyPr>
            <a:normAutofit/>
          </a:bodyPr>
          <a:lstStyle/>
          <a:p>
            <a:pPr marL="0" indent="0">
              <a:buNone/>
            </a:pPr>
            <a:r>
              <a:rPr lang="en-IN" sz="1800" dirty="0"/>
              <a:t>Understand the Dataset</a:t>
            </a:r>
          </a:p>
        </p:txBody>
      </p:sp>
      <p:pic>
        <p:nvPicPr>
          <p:cNvPr id="3" name="Picture 2">
            <a:extLst>
              <a:ext uri="{FF2B5EF4-FFF2-40B4-BE49-F238E27FC236}">
                <a16:creationId xmlns:a16="http://schemas.microsoft.com/office/drawing/2014/main" id="{2E7EB592-E2F0-C338-07BA-E398C8E2CE6A}"/>
              </a:ext>
            </a:extLst>
          </p:cNvPr>
          <p:cNvPicPr>
            <a:picLocks noChangeAspect="1"/>
          </p:cNvPicPr>
          <p:nvPr/>
        </p:nvPicPr>
        <p:blipFill>
          <a:blip r:embed="rId3"/>
          <a:stretch>
            <a:fillRect/>
          </a:stretch>
        </p:blipFill>
        <p:spPr>
          <a:xfrm>
            <a:off x="1647966" y="1752889"/>
            <a:ext cx="3017782" cy="2572173"/>
          </a:xfrm>
          <a:prstGeom prst="rect">
            <a:avLst/>
          </a:prstGeom>
        </p:spPr>
      </p:pic>
      <p:sp>
        <p:nvSpPr>
          <p:cNvPr id="11" name="TextBox 10">
            <a:extLst>
              <a:ext uri="{FF2B5EF4-FFF2-40B4-BE49-F238E27FC236}">
                <a16:creationId xmlns:a16="http://schemas.microsoft.com/office/drawing/2014/main" id="{F2BC07C3-F64F-BD7F-C64D-44AAD5C92EFC}"/>
              </a:ext>
            </a:extLst>
          </p:cNvPr>
          <p:cNvSpPr txBox="1"/>
          <p:nvPr/>
        </p:nvSpPr>
        <p:spPr>
          <a:xfrm>
            <a:off x="675957" y="4731886"/>
            <a:ext cx="6596678" cy="369332"/>
          </a:xfrm>
          <a:prstGeom prst="rect">
            <a:avLst/>
          </a:prstGeom>
          <a:noFill/>
        </p:spPr>
        <p:txBody>
          <a:bodyPr wrap="none" rtlCol="0">
            <a:spAutoFit/>
          </a:bodyPr>
          <a:lstStyle/>
          <a:p>
            <a:r>
              <a:rPr lang="en-IN" sz="1600" dirty="0"/>
              <a:t>This gives you your Dataset Overview / Descriptive Statistics slide</a:t>
            </a:r>
            <a:r>
              <a:rPr lang="en-IN" dirty="0"/>
              <a:t>.</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63148" y="1201586"/>
            <a:ext cx="4275138" cy="477520"/>
          </a:xfrm>
        </p:spPr>
        <p:txBody>
          <a:bodyPr>
            <a:normAutofit/>
          </a:bodyPr>
          <a:lstStyle/>
          <a:p>
            <a:pPr marL="0" indent="0">
              <a:buNone/>
            </a:pPr>
            <a:r>
              <a:rPr lang="en-IN" sz="1800" dirty="0"/>
              <a:t>Data Quality and Cleaning</a:t>
            </a:r>
          </a:p>
        </p:txBody>
      </p:sp>
      <p:pic>
        <p:nvPicPr>
          <p:cNvPr id="3" name="Picture 2">
            <a:extLst>
              <a:ext uri="{FF2B5EF4-FFF2-40B4-BE49-F238E27FC236}">
                <a16:creationId xmlns:a16="http://schemas.microsoft.com/office/drawing/2014/main" id="{8939194E-E524-5EB4-DC8D-1BC41074E076}"/>
              </a:ext>
            </a:extLst>
          </p:cNvPr>
          <p:cNvPicPr>
            <a:picLocks noChangeAspect="1"/>
          </p:cNvPicPr>
          <p:nvPr/>
        </p:nvPicPr>
        <p:blipFill>
          <a:blip r:embed="rId3"/>
          <a:stretch>
            <a:fillRect/>
          </a:stretch>
        </p:blipFill>
        <p:spPr>
          <a:xfrm>
            <a:off x="1892739" y="1941449"/>
            <a:ext cx="3543607" cy="2184627"/>
          </a:xfrm>
          <a:prstGeom prst="rect">
            <a:avLst/>
          </a:prstGeom>
        </p:spPr>
      </p:pic>
      <p:sp>
        <p:nvSpPr>
          <p:cNvPr id="6" name="TextBox 5">
            <a:extLst>
              <a:ext uri="{FF2B5EF4-FFF2-40B4-BE49-F238E27FC236}">
                <a16:creationId xmlns:a16="http://schemas.microsoft.com/office/drawing/2014/main" id="{E5DE697B-2152-0316-5CBB-547E29D83AC0}"/>
              </a:ext>
            </a:extLst>
          </p:cNvPr>
          <p:cNvSpPr txBox="1"/>
          <p:nvPr/>
        </p:nvSpPr>
        <p:spPr>
          <a:xfrm>
            <a:off x="1082349" y="4475851"/>
            <a:ext cx="4654241" cy="1323439"/>
          </a:xfrm>
          <a:prstGeom prst="rect">
            <a:avLst/>
          </a:prstGeom>
          <a:noFill/>
        </p:spPr>
        <p:txBody>
          <a:bodyPr wrap="square" rtlCol="0">
            <a:spAutoFit/>
          </a:bodyPr>
          <a:lstStyle/>
          <a:p>
            <a:pPr>
              <a:buClr>
                <a:schemeClr val="accent3">
                  <a:lumMod val="75000"/>
                </a:schemeClr>
              </a:buClr>
            </a:pPr>
            <a:r>
              <a:rPr lang="en-IN" sz="1600" dirty="0"/>
              <a:t>• Checked missing values</a:t>
            </a:r>
            <a:br>
              <a:rPr lang="en-IN" sz="1600" dirty="0"/>
            </a:br>
            <a:r>
              <a:rPr lang="en-IN" sz="1600" dirty="0"/>
              <a:t>• Identified duplicate records</a:t>
            </a:r>
            <a:br>
              <a:rPr lang="en-IN" sz="1600" dirty="0"/>
            </a:br>
            <a:r>
              <a:rPr lang="en-IN" sz="1600" dirty="0"/>
              <a:t>• Examined data types and unique values</a:t>
            </a:r>
            <a:br>
              <a:rPr lang="en-IN" sz="1600" dirty="0"/>
            </a:br>
            <a:r>
              <a:rPr lang="en-IN" sz="1600" dirty="0"/>
              <a:t>• Removed duplicate records where necessary</a:t>
            </a:r>
            <a:br>
              <a:rPr lang="en-IN" sz="1600" dirty="0"/>
            </a:br>
            <a:r>
              <a:rPr lang="en-IN" sz="1600" dirty="0"/>
              <a:t>• Prepared data for analysis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44486" y="1130890"/>
            <a:ext cx="4275138" cy="477520"/>
          </a:xfrm>
        </p:spPr>
        <p:txBody>
          <a:bodyPr>
            <a:normAutofit/>
          </a:bodyPr>
          <a:lstStyle/>
          <a:p>
            <a:pPr marL="0" indent="0">
              <a:buNone/>
            </a:pPr>
            <a:r>
              <a:rPr lang="en-IN" sz="1800" dirty="0"/>
              <a:t>Seasonal Distribution</a:t>
            </a:r>
          </a:p>
        </p:txBody>
      </p:sp>
      <p:pic>
        <p:nvPicPr>
          <p:cNvPr id="3" name="Picture 2">
            <a:extLst>
              <a:ext uri="{FF2B5EF4-FFF2-40B4-BE49-F238E27FC236}">
                <a16:creationId xmlns:a16="http://schemas.microsoft.com/office/drawing/2014/main" id="{8FFC4AD1-F1EB-9ADE-A817-23CDC402095E}"/>
              </a:ext>
            </a:extLst>
          </p:cNvPr>
          <p:cNvPicPr>
            <a:picLocks noChangeAspect="1"/>
          </p:cNvPicPr>
          <p:nvPr/>
        </p:nvPicPr>
        <p:blipFill>
          <a:blip r:embed="rId3"/>
          <a:stretch>
            <a:fillRect/>
          </a:stretch>
        </p:blipFill>
        <p:spPr>
          <a:xfrm>
            <a:off x="1028889" y="1795161"/>
            <a:ext cx="4610500" cy="378746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48C3A-2068-B895-C0CF-D64FBAFA508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FD63F3-423A-B951-4750-E5D7F9F6076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1F68842-A819-A7A1-CB76-894FB4F2A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BCA2786-56D9-79AE-1AEB-49F9982361C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41C9DE9-FB93-5CDD-3F90-BDCDB6C2868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70CE020-A5AB-155F-2080-A8699BA6E6F0}"/>
              </a:ext>
            </a:extLst>
          </p:cNvPr>
          <p:cNvSpPr>
            <a:spLocks noGrp="1"/>
          </p:cNvSpPr>
          <p:nvPr>
            <p:ph type="body" sz="quarter" idx="12"/>
          </p:nvPr>
        </p:nvSpPr>
        <p:spPr>
          <a:xfrm>
            <a:off x="681513" y="1201586"/>
            <a:ext cx="4275138" cy="477520"/>
          </a:xfrm>
        </p:spPr>
        <p:txBody>
          <a:bodyPr>
            <a:normAutofit/>
          </a:bodyPr>
          <a:lstStyle/>
          <a:p>
            <a:pPr marL="0" indent="0">
              <a:buNone/>
            </a:pPr>
            <a:r>
              <a:rPr lang="en-IN" sz="1800" dirty="0"/>
              <a:t>Seasonal Yield, Production and Profit</a:t>
            </a:r>
          </a:p>
        </p:txBody>
      </p:sp>
      <p:pic>
        <p:nvPicPr>
          <p:cNvPr id="3" name="Picture 2">
            <a:extLst>
              <a:ext uri="{FF2B5EF4-FFF2-40B4-BE49-F238E27FC236}">
                <a16:creationId xmlns:a16="http://schemas.microsoft.com/office/drawing/2014/main" id="{D6C64408-7BAA-1981-45FC-78AB0E8ABA8A}"/>
              </a:ext>
            </a:extLst>
          </p:cNvPr>
          <p:cNvPicPr>
            <a:picLocks noChangeAspect="1"/>
          </p:cNvPicPr>
          <p:nvPr/>
        </p:nvPicPr>
        <p:blipFill>
          <a:blip r:embed="rId3"/>
          <a:stretch>
            <a:fillRect/>
          </a:stretch>
        </p:blipFill>
        <p:spPr>
          <a:xfrm>
            <a:off x="1024416" y="1941448"/>
            <a:ext cx="3589331" cy="2901317"/>
          </a:xfrm>
          <a:prstGeom prst="rect">
            <a:avLst/>
          </a:prstGeom>
        </p:spPr>
      </p:pic>
      <p:sp>
        <p:nvSpPr>
          <p:cNvPr id="6" name="TextBox 5">
            <a:extLst>
              <a:ext uri="{FF2B5EF4-FFF2-40B4-BE49-F238E27FC236}">
                <a16:creationId xmlns:a16="http://schemas.microsoft.com/office/drawing/2014/main" id="{D3EA03E8-E30A-34F0-F04B-5B6EF6B97E35}"/>
              </a:ext>
            </a:extLst>
          </p:cNvPr>
          <p:cNvSpPr txBox="1"/>
          <p:nvPr/>
        </p:nvSpPr>
        <p:spPr>
          <a:xfrm>
            <a:off x="6096000" y="1201586"/>
            <a:ext cx="4671526" cy="369332"/>
          </a:xfrm>
          <a:prstGeom prst="rect">
            <a:avLst/>
          </a:prstGeom>
          <a:noFill/>
        </p:spPr>
        <p:txBody>
          <a:bodyPr wrap="square" rtlCol="0">
            <a:spAutoFit/>
          </a:bodyPr>
          <a:lstStyle/>
          <a:p>
            <a:r>
              <a:rPr lang="en-IN" dirty="0"/>
              <a:t>Yield visualization</a:t>
            </a:r>
          </a:p>
        </p:txBody>
      </p:sp>
      <p:pic>
        <p:nvPicPr>
          <p:cNvPr id="11" name="Picture 10">
            <a:extLst>
              <a:ext uri="{FF2B5EF4-FFF2-40B4-BE49-F238E27FC236}">
                <a16:creationId xmlns:a16="http://schemas.microsoft.com/office/drawing/2014/main" id="{0CBEFB20-F224-2308-49BD-48DCBEE9BF6D}"/>
              </a:ext>
            </a:extLst>
          </p:cNvPr>
          <p:cNvPicPr>
            <a:picLocks noChangeAspect="1"/>
          </p:cNvPicPr>
          <p:nvPr/>
        </p:nvPicPr>
        <p:blipFill>
          <a:blip r:embed="rId4"/>
          <a:stretch>
            <a:fillRect/>
          </a:stretch>
        </p:blipFill>
        <p:spPr>
          <a:xfrm>
            <a:off x="5942312" y="1839350"/>
            <a:ext cx="3724202" cy="3227171"/>
          </a:xfrm>
          <a:prstGeom prst="rect">
            <a:avLst/>
          </a:prstGeom>
        </p:spPr>
      </p:pic>
      <p:sp>
        <p:nvSpPr>
          <p:cNvPr id="12" name="TextBox 11">
            <a:extLst>
              <a:ext uri="{FF2B5EF4-FFF2-40B4-BE49-F238E27FC236}">
                <a16:creationId xmlns:a16="http://schemas.microsoft.com/office/drawing/2014/main" id="{6263A15F-E242-3141-089D-5588B1FAF18B}"/>
              </a:ext>
            </a:extLst>
          </p:cNvPr>
          <p:cNvSpPr txBox="1"/>
          <p:nvPr/>
        </p:nvSpPr>
        <p:spPr>
          <a:xfrm>
            <a:off x="912448" y="5582629"/>
            <a:ext cx="8567453" cy="584775"/>
          </a:xfrm>
          <a:prstGeom prst="rect">
            <a:avLst/>
          </a:prstGeom>
          <a:noFill/>
        </p:spPr>
        <p:txBody>
          <a:bodyPr wrap="square" rtlCol="0">
            <a:spAutoFit/>
          </a:bodyPr>
          <a:lstStyle/>
          <a:p>
            <a:r>
              <a:rPr lang="en-IN" sz="1600" dirty="0"/>
              <a:t>Finding: Average agricultural yield varies across seasons, indicating the influence of seasonal conditions on agricultural performance.</a:t>
            </a:r>
          </a:p>
        </p:txBody>
      </p:sp>
      <p:sp>
        <p:nvSpPr>
          <p:cNvPr id="14" name="Arrow: Right 13">
            <a:extLst>
              <a:ext uri="{FF2B5EF4-FFF2-40B4-BE49-F238E27FC236}">
                <a16:creationId xmlns:a16="http://schemas.microsoft.com/office/drawing/2014/main" id="{AF179B4A-AF39-18DC-AF95-34035A6783CF}"/>
              </a:ext>
            </a:extLst>
          </p:cNvPr>
          <p:cNvSpPr/>
          <p:nvPr/>
        </p:nvSpPr>
        <p:spPr>
          <a:xfrm>
            <a:off x="5029200" y="1238478"/>
            <a:ext cx="608602" cy="295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83660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1D1D0-09F5-D4B9-8B6C-158CEE4B30D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C53A04C-88DB-0E68-11E1-BEA9A78C20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6CD3BAB-5075-2809-794C-F3956BA06A3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8E62043-58A1-425F-3C96-CBF22A06635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BCDA57F-64D2-34E0-3102-4A6D9695A23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412F790-71B3-C129-3F4E-2B468FC7024A}"/>
              </a:ext>
            </a:extLst>
          </p:cNvPr>
          <p:cNvSpPr>
            <a:spLocks noGrp="1"/>
          </p:cNvSpPr>
          <p:nvPr>
            <p:ph type="body" sz="quarter" idx="12"/>
          </p:nvPr>
        </p:nvSpPr>
        <p:spPr>
          <a:xfrm>
            <a:off x="733178" y="1275371"/>
            <a:ext cx="4275138" cy="477520"/>
          </a:xfrm>
        </p:spPr>
        <p:txBody>
          <a:bodyPr>
            <a:normAutofit/>
          </a:bodyPr>
          <a:lstStyle/>
          <a:p>
            <a:pPr marL="0" indent="0">
              <a:buNone/>
            </a:pPr>
            <a:r>
              <a:rPr lang="en-IN" sz="1800" dirty="0"/>
              <a:t>Yield Distribution</a:t>
            </a:r>
          </a:p>
        </p:txBody>
      </p:sp>
      <p:pic>
        <p:nvPicPr>
          <p:cNvPr id="3" name="Picture 2">
            <a:extLst>
              <a:ext uri="{FF2B5EF4-FFF2-40B4-BE49-F238E27FC236}">
                <a16:creationId xmlns:a16="http://schemas.microsoft.com/office/drawing/2014/main" id="{F8EEA046-507C-3509-93B0-7AFF62F35E40}"/>
              </a:ext>
            </a:extLst>
          </p:cNvPr>
          <p:cNvPicPr>
            <a:picLocks noChangeAspect="1"/>
          </p:cNvPicPr>
          <p:nvPr/>
        </p:nvPicPr>
        <p:blipFill>
          <a:blip r:embed="rId3"/>
          <a:stretch>
            <a:fillRect/>
          </a:stretch>
        </p:blipFill>
        <p:spPr>
          <a:xfrm>
            <a:off x="1226931" y="1752891"/>
            <a:ext cx="5528431" cy="3089697"/>
          </a:xfrm>
          <a:prstGeom prst="rect">
            <a:avLst/>
          </a:prstGeom>
        </p:spPr>
      </p:pic>
      <p:sp>
        <p:nvSpPr>
          <p:cNvPr id="6" name="TextBox 5">
            <a:extLst>
              <a:ext uri="{FF2B5EF4-FFF2-40B4-BE49-F238E27FC236}">
                <a16:creationId xmlns:a16="http://schemas.microsoft.com/office/drawing/2014/main" id="{F56498C7-83F4-F833-459F-2DA7CB8BFF8A}"/>
              </a:ext>
            </a:extLst>
          </p:cNvPr>
          <p:cNvSpPr txBox="1"/>
          <p:nvPr/>
        </p:nvSpPr>
        <p:spPr>
          <a:xfrm>
            <a:off x="957986" y="5290241"/>
            <a:ext cx="9582539" cy="584775"/>
          </a:xfrm>
          <a:prstGeom prst="rect">
            <a:avLst/>
          </a:prstGeom>
          <a:noFill/>
        </p:spPr>
        <p:txBody>
          <a:bodyPr wrap="square" rtlCol="0">
            <a:spAutoFit/>
          </a:bodyPr>
          <a:lstStyle/>
          <a:p>
            <a:r>
              <a:rPr lang="en-IN" sz="1600" dirty="0"/>
              <a:t>Box plot analysis shows the distribution and variation of agricultural yield across different seasons and helps identify unusually high or low observations.</a:t>
            </a:r>
          </a:p>
        </p:txBody>
      </p:sp>
    </p:spTree>
    <p:extLst>
      <p:ext uri="{BB962C8B-B14F-4D97-AF65-F5344CB8AC3E}">
        <p14:creationId xmlns:p14="http://schemas.microsoft.com/office/powerpoint/2010/main" val="106572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3832A-D086-DB67-F83A-9F23324BCB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9B0219-6791-5256-2EC5-45F218779BC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ABAB3B9-FE9C-4338-7343-C359EC197A0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03386A3-498A-68D2-3CC9-731DB5E4730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4EB3FD5-53BD-7B73-1CA9-4B0D52D57A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E75B164-E2F6-DE89-50FE-196A80525944}"/>
              </a:ext>
            </a:extLst>
          </p:cNvPr>
          <p:cNvSpPr>
            <a:spLocks noGrp="1"/>
          </p:cNvSpPr>
          <p:nvPr>
            <p:ph type="body" sz="quarter" idx="12"/>
          </p:nvPr>
        </p:nvSpPr>
        <p:spPr>
          <a:xfrm>
            <a:off x="844486" y="1275371"/>
            <a:ext cx="4275138" cy="477520"/>
          </a:xfrm>
        </p:spPr>
        <p:txBody>
          <a:bodyPr>
            <a:normAutofit/>
          </a:bodyPr>
          <a:lstStyle/>
          <a:p>
            <a:pPr marL="0" indent="0">
              <a:buNone/>
            </a:pPr>
            <a:r>
              <a:rPr lang="en-IN" sz="1800" dirty="0"/>
              <a:t>Statistical Significance using ANOVA</a:t>
            </a:r>
          </a:p>
        </p:txBody>
      </p:sp>
      <p:pic>
        <p:nvPicPr>
          <p:cNvPr id="3" name="Picture 2">
            <a:extLst>
              <a:ext uri="{FF2B5EF4-FFF2-40B4-BE49-F238E27FC236}">
                <a16:creationId xmlns:a16="http://schemas.microsoft.com/office/drawing/2014/main" id="{8AAEA89C-E129-3A6E-552C-A2BD7CE7C69F}"/>
              </a:ext>
            </a:extLst>
          </p:cNvPr>
          <p:cNvPicPr>
            <a:picLocks noChangeAspect="1"/>
          </p:cNvPicPr>
          <p:nvPr/>
        </p:nvPicPr>
        <p:blipFill>
          <a:blip r:embed="rId3"/>
          <a:stretch>
            <a:fillRect/>
          </a:stretch>
        </p:blipFill>
        <p:spPr>
          <a:xfrm>
            <a:off x="1843790" y="1826676"/>
            <a:ext cx="5761219" cy="2894614"/>
          </a:xfrm>
          <a:prstGeom prst="rect">
            <a:avLst/>
          </a:prstGeom>
        </p:spPr>
      </p:pic>
      <p:sp>
        <p:nvSpPr>
          <p:cNvPr id="6" name="TextBox 5">
            <a:extLst>
              <a:ext uri="{FF2B5EF4-FFF2-40B4-BE49-F238E27FC236}">
                <a16:creationId xmlns:a16="http://schemas.microsoft.com/office/drawing/2014/main" id="{F06E6B81-1E7C-49EF-B4B2-DD8A46FA72A8}"/>
              </a:ext>
            </a:extLst>
          </p:cNvPr>
          <p:cNvSpPr txBox="1"/>
          <p:nvPr/>
        </p:nvSpPr>
        <p:spPr>
          <a:xfrm>
            <a:off x="767404" y="4907902"/>
            <a:ext cx="7156579" cy="1354217"/>
          </a:xfrm>
          <a:prstGeom prst="rect">
            <a:avLst/>
          </a:prstGeom>
          <a:noFill/>
        </p:spPr>
        <p:txBody>
          <a:bodyPr wrap="square" rtlCol="0">
            <a:spAutoFit/>
          </a:bodyPr>
          <a:lstStyle/>
          <a:p>
            <a:r>
              <a:rPr lang="en-IN" sz="1600" dirty="0"/>
              <a:t>ANOVA Test </a:t>
            </a:r>
          </a:p>
          <a:p>
            <a:r>
              <a:rPr lang="en-IN" sz="1600" dirty="0"/>
              <a:t>F-statistic </a:t>
            </a:r>
          </a:p>
          <a:p>
            <a:r>
              <a:rPr lang="en-IN" sz="1600" dirty="0"/>
              <a:t>P-value </a:t>
            </a:r>
          </a:p>
          <a:p>
            <a:r>
              <a:rPr lang="en-IN" sz="1600" dirty="0"/>
              <a:t>Conclusion</a:t>
            </a:r>
          </a:p>
          <a:p>
            <a:endParaRPr lang="en-IN" dirty="0"/>
          </a:p>
        </p:txBody>
      </p:sp>
    </p:spTree>
    <p:extLst>
      <p:ext uri="{BB962C8B-B14F-4D97-AF65-F5344CB8AC3E}">
        <p14:creationId xmlns:p14="http://schemas.microsoft.com/office/powerpoint/2010/main" val="228641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4D42C-7CF3-445C-3C20-3AB9D21DA1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49F4E0F-7F05-1E9F-AD14-18440E94D98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899F0AA-C12D-77DD-30C8-538AF6DE371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AC60BD8-82EF-02A8-5227-41D59B71E62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30E9AD9-8EC0-DADF-4005-364FCEE4177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45B951A-AE04-1BC5-8ED0-A0DB4A973A17}"/>
              </a:ext>
            </a:extLst>
          </p:cNvPr>
          <p:cNvSpPr>
            <a:spLocks noGrp="1"/>
          </p:cNvSpPr>
          <p:nvPr>
            <p:ph type="body" sz="quarter" idx="12"/>
          </p:nvPr>
        </p:nvSpPr>
        <p:spPr>
          <a:xfrm>
            <a:off x="681513" y="1463929"/>
            <a:ext cx="10953760" cy="477520"/>
          </a:xfrm>
        </p:spPr>
        <p:txBody>
          <a:bodyPr>
            <a:normAutofit/>
          </a:bodyPr>
          <a:lstStyle/>
          <a:p>
            <a:pPr marL="0" indent="0">
              <a:buNone/>
            </a:pPr>
            <a:r>
              <a:rPr lang="en-IN" sz="1800" dirty="0"/>
              <a:t>Environmental Conditions          Environmental factors vs yield                   Visualization</a:t>
            </a:r>
          </a:p>
        </p:txBody>
      </p:sp>
      <p:pic>
        <p:nvPicPr>
          <p:cNvPr id="3" name="Picture 2">
            <a:extLst>
              <a:ext uri="{FF2B5EF4-FFF2-40B4-BE49-F238E27FC236}">
                <a16:creationId xmlns:a16="http://schemas.microsoft.com/office/drawing/2014/main" id="{D79D1AD2-57F0-E6A7-ADD9-00BD45AB03A3}"/>
              </a:ext>
            </a:extLst>
          </p:cNvPr>
          <p:cNvPicPr>
            <a:picLocks noChangeAspect="1"/>
          </p:cNvPicPr>
          <p:nvPr/>
        </p:nvPicPr>
        <p:blipFill>
          <a:blip r:embed="rId3"/>
          <a:stretch>
            <a:fillRect/>
          </a:stretch>
        </p:blipFill>
        <p:spPr>
          <a:xfrm>
            <a:off x="393651" y="2130007"/>
            <a:ext cx="3391194" cy="2103302"/>
          </a:xfrm>
          <a:prstGeom prst="rect">
            <a:avLst/>
          </a:prstGeom>
        </p:spPr>
      </p:pic>
      <p:pic>
        <p:nvPicPr>
          <p:cNvPr id="9" name="Picture 8">
            <a:extLst>
              <a:ext uri="{FF2B5EF4-FFF2-40B4-BE49-F238E27FC236}">
                <a16:creationId xmlns:a16="http://schemas.microsoft.com/office/drawing/2014/main" id="{F5C3BCFC-E43B-366E-F9B6-D0DD50F6D5AD}"/>
              </a:ext>
            </a:extLst>
          </p:cNvPr>
          <p:cNvPicPr>
            <a:picLocks noChangeAspect="1"/>
          </p:cNvPicPr>
          <p:nvPr/>
        </p:nvPicPr>
        <p:blipFill>
          <a:blip r:embed="rId4"/>
          <a:stretch>
            <a:fillRect/>
          </a:stretch>
        </p:blipFill>
        <p:spPr>
          <a:xfrm>
            <a:off x="4058816" y="2130007"/>
            <a:ext cx="3624727" cy="2209992"/>
          </a:xfrm>
          <a:prstGeom prst="rect">
            <a:avLst/>
          </a:prstGeom>
        </p:spPr>
      </p:pic>
      <p:pic>
        <p:nvPicPr>
          <p:cNvPr id="12" name="Picture 11">
            <a:extLst>
              <a:ext uri="{FF2B5EF4-FFF2-40B4-BE49-F238E27FC236}">
                <a16:creationId xmlns:a16="http://schemas.microsoft.com/office/drawing/2014/main" id="{92781E57-BC79-09B9-6BB9-CD52297324D4}"/>
              </a:ext>
            </a:extLst>
          </p:cNvPr>
          <p:cNvPicPr>
            <a:picLocks noChangeAspect="1"/>
          </p:cNvPicPr>
          <p:nvPr/>
        </p:nvPicPr>
        <p:blipFill>
          <a:blip r:embed="rId5"/>
          <a:stretch>
            <a:fillRect/>
          </a:stretch>
        </p:blipFill>
        <p:spPr>
          <a:xfrm>
            <a:off x="7819053" y="2130008"/>
            <a:ext cx="3816220" cy="2209992"/>
          </a:xfrm>
          <a:prstGeom prst="rect">
            <a:avLst/>
          </a:prstGeom>
        </p:spPr>
      </p:pic>
      <p:sp>
        <p:nvSpPr>
          <p:cNvPr id="13" name="TextBox 12">
            <a:extLst>
              <a:ext uri="{FF2B5EF4-FFF2-40B4-BE49-F238E27FC236}">
                <a16:creationId xmlns:a16="http://schemas.microsoft.com/office/drawing/2014/main" id="{02F6B7CE-B1AF-A659-05B5-1B7985125C1D}"/>
              </a:ext>
            </a:extLst>
          </p:cNvPr>
          <p:cNvSpPr txBox="1"/>
          <p:nvPr/>
        </p:nvSpPr>
        <p:spPr>
          <a:xfrm>
            <a:off x="526667" y="5029449"/>
            <a:ext cx="10259521" cy="584775"/>
          </a:xfrm>
          <a:prstGeom prst="rect">
            <a:avLst/>
          </a:prstGeom>
          <a:noFill/>
        </p:spPr>
        <p:txBody>
          <a:bodyPr wrap="square" rtlCol="0">
            <a:spAutoFit/>
          </a:bodyPr>
          <a:lstStyle/>
          <a:p>
            <a:r>
              <a:rPr lang="en-IN" sz="1600" dirty="0"/>
              <a:t>Environmental variables show different levels of association with agricultural yield. Correlation analysis helps identify which environmental factors are most closely related to yield.</a:t>
            </a:r>
          </a:p>
        </p:txBody>
      </p:sp>
      <p:sp>
        <p:nvSpPr>
          <p:cNvPr id="14" name="Arrow: Right 13">
            <a:extLst>
              <a:ext uri="{FF2B5EF4-FFF2-40B4-BE49-F238E27FC236}">
                <a16:creationId xmlns:a16="http://schemas.microsoft.com/office/drawing/2014/main" id="{4E9388B5-E2CA-522A-DCC1-19F4761A2286}"/>
              </a:ext>
            </a:extLst>
          </p:cNvPr>
          <p:cNvSpPr/>
          <p:nvPr/>
        </p:nvSpPr>
        <p:spPr>
          <a:xfrm>
            <a:off x="7573058" y="1566275"/>
            <a:ext cx="491990" cy="1959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69507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9FEED-82BC-8438-88BC-9F1BE81DD43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6E226E-8FD9-FFAC-1225-759535D219B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EAA3806-0B23-F677-58ED-265D3201622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B266D1D-C647-F7FB-D778-E0E53F4B2E8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546C917-419C-1333-05B0-6577F671ADF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F215A20-B90F-5BDD-8F12-D13C7697392A}"/>
              </a:ext>
            </a:extLst>
          </p:cNvPr>
          <p:cNvSpPr>
            <a:spLocks noGrp="1"/>
          </p:cNvSpPr>
          <p:nvPr>
            <p:ph type="body" sz="quarter" idx="12"/>
          </p:nvPr>
        </p:nvSpPr>
        <p:spPr>
          <a:xfrm>
            <a:off x="807164" y="1431693"/>
            <a:ext cx="4275138" cy="477520"/>
          </a:xfrm>
        </p:spPr>
        <p:txBody>
          <a:bodyPr>
            <a:normAutofit/>
          </a:bodyPr>
          <a:lstStyle/>
          <a:p>
            <a:pPr marL="0" indent="0">
              <a:buNone/>
            </a:pPr>
            <a:r>
              <a:rPr lang="en-IN" sz="1800" dirty="0"/>
              <a:t>Rainfall vs Yield</a:t>
            </a:r>
          </a:p>
        </p:txBody>
      </p:sp>
      <p:pic>
        <p:nvPicPr>
          <p:cNvPr id="3" name="Picture 2">
            <a:extLst>
              <a:ext uri="{FF2B5EF4-FFF2-40B4-BE49-F238E27FC236}">
                <a16:creationId xmlns:a16="http://schemas.microsoft.com/office/drawing/2014/main" id="{BA1C673D-FC62-1861-1CEF-35DDF565ECC5}"/>
              </a:ext>
            </a:extLst>
          </p:cNvPr>
          <p:cNvPicPr>
            <a:picLocks noChangeAspect="1"/>
          </p:cNvPicPr>
          <p:nvPr/>
        </p:nvPicPr>
        <p:blipFill>
          <a:blip r:embed="rId3"/>
          <a:stretch>
            <a:fillRect/>
          </a:stretch>
        </p:blipFill>
        <p:spPr>
          <a:xfrm>
            <a:off x="1358711" y="1909212"/>
            <a:ext cx="4404742" cy="2821407"/>
          </a:xfrm>
          <a:prstGeom prst="rect">
            <a:avLst/>
          </a:prstGeom>
        </p:spPr>
      </p:pic>
      <p:sp>
        <p:nvSpPr>
          <p:cNvPr id="6" name="TextBox 5">
            <a:extLst>
              <a:ext uri="{FF2B5EF4-FFF2-40B4-BE49-F238E27FC236}">
                <a16:creationId xmlns:a16="http://schemas.microsoft.com/office/drawing/2014/main" id="{C6D4957A-516F-AACA-B07B-77DEACBF2D0C}"/>
              </a:ext>
            </a:extLst>
          </p:cNvPr>
          <p:cNvSpPr txBox="1"/>
          <p:nvPr/>
        </p:nvSpPr>
        <p:spPr>
          <a:xfrm>
            <a:off x="675957" y="5147282"/>
            <a:ext cx="8593493" cy="584775"/>
          </a:xfrm>
          <a:prstGeom prst="rect">
            <a:avLst/>
          </a:prstGeom>
          <a:noFill/>
        </p:spPr>
        <p:txBody>
          <a:bodyPr wrap="square" rtlCol="0">
            <a:spAutoFit/>
          </a:bodyPr>
          <a:lstStyle/>
          <a:p>
            <a:r>
              <a:rPr lang="en-IN" sz="1600" dirty="0"/>
              <a:t>The scatter plot examines the relationship between rainfall and agricultural yield across different seasons.</a:t>
            </a:r>
          </a:p>
        </p:txBody>
      </p:sp>
    </p:spTree>
    <p:extLst>
      <p:ext uri="{BB962C8B-B14F-4D97-AF65-F5344CB8AC3E}">
        <p14:creationId xmlns:p14="http://schemas.microsoft.com/office/powerpoint/2010/main" val="67427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9EC18-36BC-0D3A-77E5-AFFEB745B6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101FB3F-4CD7-992E-5821-069E5E62E25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8FFB497-F4A0-8A48-F21A-B803406C46A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F5BC660-0150-C326-BC19-75E7F50F887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D94805C-20D4-F471-E911-6FCF3FF714D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123082F-1DA5-0A73-936B-20FAF045A838}"/>
              </a:ext>
            </a:extLst>
          </p:cNvPr>
          <p:cNvSpPr>
            <a:spLocks noGrp="1"/>
          </p:cNvSpPr>
          <p:nvPr>
            <p:ph type="body" sz="quarter" idx="12"/>
          </p:nvPr>
        </p:nvSpPr>
        <p:spPr>
          <a:xfrm>
            <a:off x="779172" y="1201586"/>
            <a:ext cx="9428517" cy="477520"/>
          </a:xfrm>
        </p:spPr>
        <p:txBody>
          <a:bodyPr>
            <a:normAutofit/>
          </a:bodyPr>
          <a:lstStyle/>
          <a:p>
            <a:pPr marL="0" indent="0">
              <a:buNone/>
            </a:pPr>
            <a:r>
              <a:rPr lang="en-IN" sz="1800" dirty="0"/>
              <a:t>Resource Utilization                                             Water-use efficiency chart</a:t>
            </a:r>
          </a:p>
        </p:txBody>
      </p:sp>
      <p:pic>
        <p:nvPicPr>
          <p:cNvPr id="3" name="Picture 2">
            <a:extLst>
              <a:ext uri="{FF2B5EF4-FFF2-40B4-BE49-F238E27FC236}">
                <a16:creationId xmlns:a16="http://schemas.microsoft.com/office/drawing/2014/main" id="{EA500C97-64FE-8DE0-E2B0-234392088A05}"/>
              </a:ext>
            </a:extLst>
          </p:cNvPr>
          <p:cNvPicPr>
            <a:picLocks noChangeAspect="1"/>
          </p:cNvPicPr>
          <p:nvPr/>
        </p:nvPicPr>
        <p:blipFill>
          <a:blip r:embed="rId3"/>
          <a:stretch>
            <a:fillRect/>
          </a:stretch>
        </p:blipFill>
        <p:spPr>
          <a:xfrm>
            <a:off x="779172" y="1810277"/>
            <a:ext cx="4320914" cy="2856115"/>
          </a:xfrm>
          <a:prstGeom prst="rect">
            <a:avLst/>
          </a:prstGeom>
        </p:spPr>
      </p:pic>
      <p:pic>
        <p:nvPicPr>
          <p:cNvPr id="11" name="Picture 10">
            <a:extLst>
              <a:ext uri="{FF2B5EF4-FFF2-40B4-BE49-F238E27FC236}">
                <a16:creationId xmlns:a16="http://schemas.microsoft.com/office/drawing/2014/main" id="{A94794E1-EA1D-3C82-CA4D-3F240F59DB50}"/>
              </a:ext>
            </a:extLst>
          </p:cNvPr>
          <p:cNvPicPr>
            <a:picLocks noChangeAspect="1"/>
          </p:cNvPicPr>
          <p:nvPr/>
        </p:nvPicPr>
        <p:blipFill>
          <a:blip r:embed="rId4"/>
          <a:stretch>
            <a:fillRect/>
          </a:stretch>
        </p:blipFill>
        <p:spPr>
          <a:xfrm>
            <a:off x="6017474" y="1941449"/>
            <a:ext cx="4762913" cy="2724944"/>
          </a:xfrm>
          <a:prstGeom prst="rect">
            <a:avLst/>
          </a:prstGeom>
        </p:spPr>
      </p:pic>
      <p:sp>
        <p:nvSpPr>
          <p:cNvPr id="12" name="TextBox 11">
            <a:extLst>
              <a:ext uri="{FF2B5EF4-FFF2-40B4-BE49-F238E27FC236}">
                <a16:creationId xmlns:a16="http://schemas.microsoft.com/office/drawing/2014/main" id="{5BC872B0-4C68-A974-3DC9-2B16D016F5A9}"/>
              </a:ext>
            </a:extLst>
          </p:cNvPr>
          <p:cNvSpPr txBox="1"/>
          <p:nvPr/>
        </p:nvSpPr>
        <p:spPr>
          <a:xfrm>
            <a:off x="927883" y="5364026"/>
            <a:ext cx="9634370" cy="584775"/>
          </a:xfrm>
          <a:prstGeom prst="rect">
            <a:avLst/>
          </a:prstGeom>
          <a:noFill/>
        </p:spPr>
        <p:txBody>
          <a:bodyPr wrap="square" rtlCol="0">
            <a:spAutoFit/>
          </a:bodyPr>
          <a:lstStyle/>
          <a:p>
            <a:r>
              <a:rPr lang="en-IN" sz="1600" dirty="0"/>
              <a:t>Seasonal comparison reveals variations in water consumption, fertilizer usage, pesticide usage and water-use efficiency.</a:t>
            </a:r>
          </a:p>
        </p:txBody>
      </p:sp>
    </p:spTree>
    <p:extLst>
      <p:ext uri="{BB962C8B-B14F-4D97-AF65-F5344CB8AC3E}">
        <p14:creationId xmlns:p14="http://schemas.microsoft.com/office/powerpoint/2010/main" val="282227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46977-9B4B-F5F9-01C8-117DB61C991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25C3569-56A6-346D-7DF1-5BF401FD1C7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0750B2C-BA9E-FACE-D3E5-B7FDCF19C5F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773CD4E-6F4B-303A-709A-3496B08A363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682B66E-B036-BF62-C264-4F95FDD129E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04DEA8A-7089-AF67-C04D-789DC1AD3153}"/>
              </a:ext>
            </a:extLst>
          </p:cNvPr>
          <p:cNvSpPr>
            <a:spLocks noGrp="1"/>
          </p:cNvSpPr>
          <p:nvPr>
            <p:ph type="body" sz="quarter" idx="12"/>
          </p:nvPr>
        </p:nvSpPr>
        <p:spPr>
          <a:xfrm>
            <a:off x="807163" y="1431693"/>
            <a:ext cx="9456509" cy="477520"/>
          </a:xfrm>
        </p:spPr>
        <p:txBody>
          <a:bodyPr>
            <a:normAutofit/>
          </a:bodyPr>
          <a:lstStyle/>
          <a:p>
            <a:pPr marL="0" indent="0">
              <a:buNone/>
            </a:pPr>
            <a:r>
              <a:rPr lang="en-IN" sz="1800" dirty="0"/>
              <a:t>Irrigation Method vs Yield                                      Visualization</a:t>
            </a:r>
          </a:p>
        </p:txBody>
      </p:sp>
      <p:pic>
        <p:nvPicPr>
          <p:cNvPr id="3" name="Picture 2">
            <a:extLst>
              <a:ext uri="{FF2B5EF4-FFF2-40B4-BE49-F238E27FC236}">
                <a16:creationId xmlns:a16="http://schemas.microsoft.com/office/drawing/2014/main" id="{00A272CB-351A-82E2-2DE3-D965C330AAA6}"/>
              </a:ext>
            </a:extLst>
          </p:cNvPr>
          <p:cNvPicPr>
            <a:picLocks noChangeAspect="1"/>
          </p:cNvPicPr>
          <p:nvPr/>
        </p:nvPicPr>
        <p:blipFill>
          <a:blip r:embed="rId3"/>
          <a:stretch>
            <a:fillRect/>
          </a:stretch>
        </p:blipFill>
        <p:spPr>
          <a:xfrm>
            <a:off x="713279" y="2304619"/>
            <a:ext cx="3360711" cy="2324405"/>
          </a:xfrm>
          <a:prstGeom prst="rect">
            <a:avLst/>
          </a:prstGeom>
        </p:spPr>
      </p:pic>
      <p:pic>
        <p:nvPicPr>
          <p:cNvPr id="9" name="Picture 8">
            <a:extLst>
              <a:ext uri="{FF2B5EF4-FFF2-40B4-BE49-F238E27FC236}">
                <a16:creationId xmlns:a16="http://schemas.microsoft.com/office/drawing/2014/main" id="{FCF969C2-FABB-F856-8416-BFB965849D52}"/>
              </a:ext>
            </a:extLst>
          </p:cNvPr>
          <p:cNvPicPr>
            <a:picLocks noChangeAspect="1"/>
          </p:cNvPicPr>
          <p:nvPr/>
        </p:nvPicPr>
        <p:blipFill>
          <a:blip r:embed="rId4"/>
          <a:stretch>
            <a:fillRect/>
          </a:stretch>
        </p:blipFill>
        <p:spPr>
          <a:xfrm>
            <a:off x="5057192" y="2304619"/>
            <a:ext cx="4473328" cy="2537680"/>
          </a:xfrm>
          <a:prstGeom prst="rect">
            <a:avLst/>
          </a:prstGeom>
        </p:spPr>
      </p:pic>
      <p:sp>
        <p:nvSpPr>
          <p:cNvPr id="11" name="Arrow: Right 10">
            <a:extLst>
              <a:ext uri="{FF2B5EF4-FFF2-40B4-BE49-F238E27FC236}">
                <a16:creationId xmlns:a16="http://schemas.microsoft.com/office/drawing/2014/main" id="{2EA39593-4F15-3ECF-AE97-F1297D777A16}"/>
              </a:ext>
            </a:extLst>
          </p:cNvPr>
          <p:cNvSpPr/>
          <p:nvPr/>
        </p:nvSpPr>
        <p:spPr>
          <a:xfrm>
            <a:off x="4599992" y="1493549"/>
            <a:ext cx="541176" cy="2297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FD9267E0-0102-EAD3-8C2F-DA69DCDBCDC8}"/>
              </a:ext>
            </a:extLst>
          </p:cNvPr>
          <p:cNvSpPr txBox="1"/>
          <p:nvPr/>
        </p:nvSpPr>
        <p:spPr>
          <a:xfrm>
            <a:off x="807162" y="5439669"/>
            <a:ext cx="9456509" cy="584775"/>
          </a:xfrm>
          <a:prstGeom prst="rect">
            <a:avLst/>
          </a:prstGeom>
          <a:noFill/>
        </p:spPr>
        <p:txBody>
          <a:bodyPr wrap="square" rtlCol="0">
            <a:spAutoFit/>
          </a:bodyPr>
          <a:lstStyle/>
          <a:p>
            <a:r>
              <a:rPr lang="en-IN" sz="1600" dirty="0"/>
              <a:t>Irrigation methods show different yield and water-use patterns across seasons, supporting resource planning and irrigation strategy evaluation.</a:t>
            </a:r>
          </a:p>
        </p:txBody>
      </p:sp>
    </p:spTree>
    <p:extLst>
      <p:ext uri="{BB962C8B-B14F-4D97-AF65-F5344CB8AC3E}">
        <p14:creationId xmlns:p14="http://schemas.microsoft.com/office/powerpoint/2010/main" val="328605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3A9E2-3CED-36C6-4D6C-6C1505D6DB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4408316-8F9F-3374-78F6-FC673FC5805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709854A-8F80-84C9-F394-24DA1427550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C3FEA23-6DEE-3C62-6488-0CAF5CE0F19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CF880B6-92ED-3D36-BD38-EAB9CC4F776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 Placeholder 8">
            <a:extLst>
              <a:ext uri="{FF2B5EF4-FFF2-40B4-BE49-F238E27FC236}">
                <a16:creationId xmlns:a16="http://schemas.microsoft.com/office/drawing/2014/main" id="{EF12E212-F248-F978-695C-9C5625AA9317}"/>
              </a:ext>
            </a:extLst>
          </p:cNvPr>
          <p:cNvSpPr txBox="1">
            <a:spLocks noGrp="1"/>
          </p:cNvSpPr>
          <p:nvPr>
            <p:ph type="body" sz="quarter" idx="12"/>
          </p:nvPr>
        </p:nvSpPr>
        <p:spPr>
          <a:xfrm>
            <a:off x="759797" y="1275371"/>
            <a:ext cx="10315640" cy="369332"/>
          </a:xfrm>
          <a:prstGeom prst="rect">
            <a:avLst/>
          </a:prstGeom>
          <a:noFill/>
        </p:spPr>
        <p:txBody>
          <a:bodyPr wrap="square">
            <a:spAutoFit/>
          </a:bodyPr>
          <a:lstStyle/>
          <a:p>
            <a:pPr marL="0" indent="0">
              <a:buNone/>
            </a:pPr>
            <a:r>
              <a:rPr lang="en-IN" sz="1800" b="0" i="0" dirty="0">
                <a:solidFill>
                  <a:schemeClr val="tx1"/>
                </a:solidFill>
                <a:effectLst/>
                <a:latin typeface="+mn-lt"/>
              </a:rPr>
              <a:t>Economic Performance                                        </a:t>
            </a:r>
            <a:r>
              <a:rPr lang="en-IN" sz="1800" dirty="0"/>
              <a:t>Profit visualization</a:t>
            </a:r>
          </a:p>
        </p:txBody>
      </p:sp>
      <p:pic>
        <p:nvPicPr>
          <p:cNvPr id="12" name="Picture 11">
            <a:extLst>
              <a:ext uri="{FF2B5EF4-FFF2-40B4-BE49-F238E27FC236}">
                <a16:creationId xmlns:a16="http://schemas.microsoft.com/office/drawing/2014/main" id="{4B010A7A-9206-ADA6-496E-4329FA777114}"/>
              </a:ext>
            </a:extLst>
          </p:cNvPr>
          <p:cNvPicPr>
            <a:picLocks noChangeAspect="1"/>
          </p:cNvPicPr>
          <p:nvPr/>
        </p:nvPicPr>
        <p:blipFill>
          <a:blip r:embed="rId3"/>
          <a:stretch>
            <a:fillRect/>
          </a:stretch>
        </p:blipFill>
        <p:spPr>
          <a:xfrm>
            <a:off x="888326" y="2015234"/>
            <a:ext cx="3299746" cy="2538105"/>
          </a:xfrm>
          <a:prstGeom prst="rect">
            <a:avLst/>
          </a:prstGeom>
        </p:spPr>
      </p:pic>
      <p:pic>
        <p:nvPicPr>
          <p:cNvPr id="14" name="Picture 13">
            <a:extLst>
              <a:ext uri="{FF2B5EF4-FFF2-40B4-BE49-F238E27FC236}">
                <a16:creationId xmlns:a16="http://schemas.microsoft.com/office/drawing/2014/main" id="{2143CC09-F2D7-050D-99D3-2A7007BA8CBA}"/>
              </a:ext>
            </a:extLst>
          </p:cNvPr>
          <p:cNvPicPr>
            <a:picLocks noChangeAspect="1"/>
          </p:cNvPicPr>
          <p:nvPr/>
        </p:nvPicPr>
        <p:blipFill>
          <a:blip r:embed="rId4"/>
          <a:stretch>
            <a:fillRect/>
          </a:stretch>
        </p:blipFill>
        <p:spPr>
          <a:xfrm>
            <a:off x="5332253" y="2015234"/>
            <a:ext cx="4419983" cy="2538105"/>
          </a:xfrm>
          <a:prstGeom prst="rect">
            <a:avLst/>
          </a:prstGeom>
        </p:spPr>
      </p:pic>
      <p:sp>
        <p:nvSpPr>
          <p:cNvPr id="15" name="TextBox 14">
            <a:extLst>
              <a:ext uri="{FF2B5EF4-FFF2-40B4-BE49-F238E27FC236}">
                <a16:creationId xmlns:a16="http://schemas.microsoft.com/office/drawing/2014/main" id="{26141F09-683B-936A-B2B1-BBF4324199A4}"/>
              </a:ext>
            </a:extLst>
          </p:cNvPr>
          <p:cNvSpPr txBox="1"/>
          <p:nvPr/>
        </p:nvSpPr>
        <p:spPr>
          <a:xfrm>
            <a:off x="759797" y="5147282"/>
            <a:ext cx="9382579" cy="584775"/>
          </a:xfrm>
          <a:prstGeom prst="rect">
            <a:avLst/>
          </a:prstGeom>
          <a:noFill/>
        </p:spPr>
        <p:txBody>
          <a:bodyPr wrap="square" rtlCol="0">
            <a:spAutoFit/>
          </a:bodyPr>
          <a:lstStyle/>
          <a:p>
            <a:r>
              <a:rPr lang="en-IN" sz="1600" dirty="0"/>
              <a:t>Economic analysis compares seasonal cost, revenue and profit to identify financially stronger and weaker agricultural periods.</a:t>
            </a:r>
          </a:p>
        </p:txBody>
      </p:sp>
      <p:sp>
        <p:nvSpPr>
          <p:cNvPr id="16" name="Arrow: Right 15">
            <a:extLst>
              <a:ext uri="{FF2B5EF4-FFF2-40B4-BE49-F238E27FC236}">
                <a16:creationId xmlns:a16="http://schemas.microsoft.com/office/drawing/2014/main" id="{9C9F1E06-7AE8-F83D-CAC2-C0BEC1F3DA53}"/>
              </a:ext>
            </a:extLst>
          </p:cNvPr>
          <p:cNvSpPr/>
          <p:nvPr/>
        </p:nvSpPr>
        <p:spPr>
          <a:xfrm>
            <a:off x="4345694" y="1407166"/>
            <a:ext cx="422249" cy="2012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8892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4B6C3-5CF7-3C95-13AF-E4C5E0064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ED275A-D9C2-BA5E-F5CC-FD281598CCF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EC4131D-423D-DFFA-AFC9-8E6D01613F3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50CB6FC-3269-1103-114A-FAA7E4D4217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6AC5D5E-7442-8694-900B-D32DE19F380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B296F98-BDAD-B840-6632-D965F78A0992}"/>
              </a:ext>
            </a:extLst>
          </p:cNvPr>
          <p:cNvSpPr>
            <a:spLocks noGrp="1"/>
          </p:cNvSpPr>
          <p:nvPr>
            <p:ph type="body" sz="quarter" idx="12"/>
          </p:nvPr>
        </p:nvSpPr>
        <p:spPr>
          <a:xfrm>
            <a:off x="807163" y="1431693"/>
            <a:ext cx="9661783" cy="477520"/>
          </a:xfrm>
        </p:spPr>
        <p:txBody>
          <a:bodyPr>
            <a:normAutofit/>
          </a:bodyPr>
          <a:lstStyle/>
          <a:p>
            <a:pPr marL="0" indent="0">
              <a:buNone/>
            </a:pPr>
            <a:r>
              <a:rPr lang="en-IN" sz="1800" dirty="0"/>
              <a:t>Crop + Season Analysis                                               Heatmap</a:t>
            </a:r>
          </a:p>
        </p:txBody>
      </p:sp>
      <p:pic>
        <p:nvPicPr>
          <p:cNvPr id="3" name="Picture 2">
            <a:extLst>
              <a:ext uri="{FF2B5EF4-FFF2-40B4-BE49-F238E27FC236}">
                <a16:creationId xmlns:a16="http://schemas.microsoft.com/office/drawing/2014/main" id="{A3C803CB-1574-2A53-2B88-9B8A27F353FE}"/>
              </a:ext>
            </a:extLst>
          </p:cNvPr>
          <p:cNvPicPr>
            <a:picLocks noChangeAspect="1"/>
          </p:cNvPicPr>
          <p:nvPr/>
        </p:nvPicPr>
        <p:blipFill>
          <a:blip r:embed="rId3"/>
          <a:stretch>
            <a:fillRect/>
          </a:stretch>
        </p:blipFill>
        <p:spPr>
          <a:xfrm>
            <a:off x="849827" y="2015234"/>
            <a:ext cx="3368332" cy="1653683"/>
          </a:xfrm>
          <a:prstGeom prst="rect">
            <a:avLst/>
          </a:prstGeom>
        </p:spPr>
      </p:pic>
      <p:sp>
        <p:nvSpPr>
          <p:cNvPr id="6" name="Arrow: Right 5">
            <a:extLst>
              <a:ext uri="{FF2B5EF4-FFF2-40B4-BE49-F238E27FC236}">
                <a16:creationId xmlns:a16="http://schemas.microsoft.com/office/drawing/2014/main" id="{1D1E066E-4688-52D0-E5EB-6A140339171D}"/>
              </a:ext>
            </a:extLst>
          </p:cNvPr>
          <p:cNvSpPr/>
          <p:nvPr/>
        </p:nvSpPr>
        <p:spPr>
          <a:xfrm>
            <a:off x="4525347" y="1513614"/>
            <a:ext cx="625151" cy="3136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B6F93265-FBAA-8833-6981-D00076E8A888}"/>
              </a:ext>
            </a:extLst>
          </p:cNvPr>
          <p:cNvPicPr>
            <a:picLocks noChangeAspect="1"/>
          </p:cNvPicPr>
          <p:nvPr/>
        </p:nvPicPr>
        <p:blipFill>
          <a:blip r:embed="rId4"/>
          <a:stretch>
            <a:fillRect/>
          </a:stretch>
        </p:blipFill>
        <p:spPr>
          <a:xfrm>
            <a:off x="5177719" y="1941449"/>
            <a:ext cx="4534293" cy="3048264"/>
          </a:xfrm>
          <a:prstGeom prst="rect">
            <a:avLst/>
          </a:prstGeom>
        </p:spPr>
      </p:pic>
      <p:sp>
        <p:nvSpPr>
          <p:cNvPr id="12" name="TextBox 11">
            <a:extLst>
              <a:ext uri="{FF2B5EF4-FFF2-40B4-BE49-F238E27FC236}">
                <a16:creationId xmlns:a16="http://schemas.microsoft.com/office/drawing/2014/main" id="{FF8370AB-1E06-4BFC-952E-964ADC6328C4}"/>
              </a:ext>
            </a:extLst>
          </p:cNvPr>
          <p:cNvSpPr txBox="1"/>
          <p:nvPr/>
        </p:nvSpPr>
        <p:spPr>
          <a:xfrm>
            <a:off x="1026367" y="5411755"/>
            <a:ext cx="8685645" cy="584775"/>
          </a:xfrm>
          <a:prstGeom prst="rect">
            <a:avLst/>
          </a:prstGeom>
          <a:noFill/>
        </p:spPr>
        <p:txBody>
          <a:bodyPr wrap="square" rtlCol="0">
            <a:spAutoFit/>
          </a:bodyPr>
          <a:lstStyle/>
          <a:p>
            <a:r>
              <a:rPr lang="en-IN" sz="1600" dirty="0"/>
              <a:t>Crop-season analysis reveals that agricultural performance varies according to the interaction between crop type and season.</a:t>
            </a:r>
          </a:p>
        </p:txBody>
      </p:sp>
    </p:spTree>
    <p:extLst>
      <p:ext uri="{BB962C8B-B14F-4D97-AF65-F5344CB8AC3E}">
        <p14:creationId xmlns:p14="http://schemas.microsoft.com/office/powerpoint/2010/main" val="273919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5CCC2-3AE2-7A8B-3060-E801912464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49DAE1D-82B9-E746-BAFD-49F38710109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F4F7E06-7198-9993-A87E-E4906A2D070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05F43E5-63EE-9205-CB89-0FCF19C5E38F}"/>
              </a:ext>
            </a:extLst>
          </p:cNvPr>
          <p:cNvSpPr txBox="1">
            <a:spLocks/>
          </p:cNvSpPr>
          <p:nvPr/>
        </p:nvSpPr>
        <p:spPr>
          <a:xfrm>
            <a:off x="807164" y="1098654"/>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3E7CE65-1F6C-B1E7-A9D5-4E3EE5308E8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2D0A61E-A6F5-C904-4F80-4E3A8CFAAC8A}"/>
              </a:ext>
            </a:extLst>
          </p:cNvPr>
          <p:cNvSpPr>
            <a:spLocks noGrp="1"/>
          </p:cNvSpPr>
          <p:nvPr>
            <p:ph type="body" sz="quarter" idx="12"/>
          </p:nvPr>
        </p:nvSpPr>
        <p:spPr>
          <a:xfrm>
            <a:off x="807164" y="1192933"/>
            <a:ext cx="10874763" cy="477520"/>
          </a:xfrm>
        </p:spPr>
        <p:txBody>
          <a:bodyPr>
            <a:normAutofit/>
          </a:bodyPr>
          <a:lstStyle/>
          <a:p>
            <a:pPr marL="0" indent="0">
              <a:buNone/>
            </a:pPr>
            <a:r>
              <a:rPr lang="en-IN" sz="1800" dirty="0"/>
              <a:t>Regional Seasonal Comparison                                Visualization</a:t>
            </a:r>
          </a:p>
        </p:txBody>
      </p:sp>
      <p:pic>
        <p:nvPicPr>
          <p:cNvPr id="3" name="Picture 2">
            <a:extLst>
              <a:ext uri="{FF2B5EF4-FFF2-40B4-BE49-F238E27FC236}">
                <a16:creationId xmlns:a16="http://schemas.microsoft.com/office/drawing/2014/main" id="{C80722DF-4780-DF02-4333-49FC50B782AE}"/>
              </a:ext>
            </a:extLst>
          </p:cNvPr>
          <p:cNvPicPr>
            <a:picLocks noChangeAspect="1"/>
          </p:cNvPicPr>
          <p:nvPr/>
        </p:nvPicPr>
        <p:blipFill>
          <a:blip r:embed="rId3"/>
          <a:stretch>
            <a:fillRect/>
          </a:stretch>
        </p:blipFill>
        <p:spPr>
          <a:xfrm>
            <a:off x="807164" y="1929651"/>
            <a:ext cx="3696020" cy="2315778"/>
          </a:xfrm>
          <a:prstGeom prst="rect">
            <a:avLst/>
          </a:prstGeom>
        </p:spPr>
      </p:pic>
      <p:pic>
        <p:nvPicPr>
          <p:cNvPr id="9" name="Picture 8">
            <a:extLst>
              <a:ext uri="{FF2B5EF4-FFF2-40B4-BE49-F238E27FC236}">
                <a16:creationId xmlns:a16="http://schemas.microsoft.com/office/drawing/2014/main" id="{19D33364-0905-770B-828D-43DA9BFC4CEE}"/>
              </a:ext>
            </a:extLst>
          </p:cNvPr>
          <p:cNvPicPr>
            <a:picLocks noChangeAspect="1"/>
          </p:cNvPicPr>
          <p:nvPr/>
        </p:nvPicPr>
        <p:blipFill>
          <a:blip r:embed="rId4"/>
          <a:stretch>
            <a:fillRect/>
          </a:stretch>
        </p:blipFill>
        <p:spPr>
          <a:xfrm>
            <a:off x="4956835" y="1929650"/>
            <a:ext cx="4816257" cy="3007419"/>
          </a:xfrm>
          <a:prstGeom prst="rect">
            <a:avLst/>
          </a:prstGeom>
        </p:spPr>
      </p:pic>
      <p:sp>
        <p:nvSpPr>
          <p:cNvPr id="11" name="Arrow: Right 10">
            <a:extLst>
              <a:ext uri="{FF2B5EF4-FFF2-40B4-BE49-F238E27FC236}">
                <a16:creationId xmlns:a16="http://schemas.microsoft.com/office/drawing/2014/main" id="{99CDD622-3493-5DA6-6641-9593E4125D60}"/>
              </a:ext>
            </a:extLst>
          </p:cNvPr>
          <p:cNvSpPr/>
          <p:nvPr/>
        </p:nvSpPr>
        <p:spPr>
          <a:xfrm>
            <a:off x="4723570" y="1245637"/>
            <a:ext cx="494522" cy="214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B443A7B-F339-30C9-E8AB-2C83AB6F0646}"/>
              </a:ext>
            </a:extLst>
          </p:cNvPr>
          <p:cNvSpPr txBox="1"/>
          <p:nvPr/>
        </p:nvSpPr>
        <p:spPr>
          <a:xfrm>
            <a:off x="675957" y="5418278"/>
            <a:ext cx="10026255" cy="584775"/>
          </a:xfrm>
          <a:prstGeom prst="rect">
            <a:avLst/>
          </a:prstGeom>
          <a:noFill/>
        </p:spPr>
        <p:txBody>
          <a:bodyPr wrap="square" rtlCol="0">
            <a:spAutoFit/>
          </a:bodyPr>
          <a:lstStyle/>
          <a:p>
            <a:r>
              <a:rPr lang="en-IN" sz="1600" dirty="0"/>
              <a:t>Regional analysis identifies differences in seasonal agricultural performance across states, supporting region-specific planning.</a:t>
            </a:r>
          </a:p>
        </p:txBody>
      </p:sp>
    </p:spTree>
    <p:extLst>
      <p:ext uri="{BB962C8B-B14F-4D97-AF65-F5344CB8AC3E}">
        <p14:creationId xmlns:p14="http://schemas.microsoft.com/office/powerpoint/2010/main" val="406047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B5F32-7B6C-BFA1-D46D-3FD47530B3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27C3FD6-8BF8-5E8E-E35C-66718531BFA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FED9426-1AAC-5976-0032-831BC374646E}"/>
              </a:ext>
            </a:extLst>
          </p:cNvPr>
          <p:cNvSpPr>
            <a:spLocks noGrp="1"/>
          </p:cNvSpPr>
          <p:nvPr>
            <p:ph type="title"/>
          </p:nvPr>
        </p:nvSpPr>
        <p:spPr>
          <a:xfrm>
            <a:off x="682900" y="12660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AFF4D39-A38E-FA3A-2684-BF04063D491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BF267BF-ED44-D511-B95E-B58BDC43C69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20B9CE0-D947-6E84-513D-6FE40929284B}"/>
              </a:ext>
            </a:extLst>
          </p:cNvPr>
          <p:cNvSpPr>
            <a:spLocks noGrp="1"/>
          </p:cNvSpPr>
          <p:nvPr>
            <p:ph type="body" sz="quarter" idx="12"/>
          </p:nvPr>
        </p:nvSpPr>
        <p:spPr>
          <a:xfrm>
            <a:off x="760511" y="877728"/>
            <a:ext cx="4275138" cy="477520"/>
          </a:xfrm>
        </p:spPr>
        <p:txBody>
          <a:bodyPr>
            <a:normAutofit/>
          </a:bodyPr>
          <a:lstStyle/>
          <a:p>
            <a:pPr marL="0" indent="0">
              <a:buNone/>
            </a:pPr>
            <a:r>
              <a:rPr lang="en-IN" sz="1600" dirty="0"/>
              <a:t>Correlation Analysis</a:t>
            </a:r>
          </a:p>
        </p:txBody>
      </p:sp>
      <p:pic>
        <p:nvPicPr>
          <p:cNvPr id="3" name="Picture 2">
            <a:extLst>
              <a:ext uri="{FF2B5EF4-FFF2-40B4-BE49-F238E27FC236}">
                <a16:creationId xmlns:a16="http://schemas.microsoft.com/office/drawing/2014/main" id="{E97946CD-D2F0-5E8C-205E-C64473B07740}"/>
              </a:ext>
            </a:extLst>
          </p:cNvPr>
          <p:cNvPicPr>
            <a:picLocks noChangeAspect="1"/>
          </p:cNvPicPr>
          <p:nvPr/>
        </p:nvPicPr>
        <p:blipFill>
          <a:blip r:embed="rId3"/>
          <a:stretch>
            <a:fillRect/>
          </a:stretch>
        </p:blipFill>
        <p:spPr>
          <a:xfrm>
            <a:off x="2711219" y="1116488"/>
            <a:ext cx="5061181" cy="4926563"/>
          </a:xfrm>
          <a:prstGeom prst="rect">
            <a:avLst/>
          </a:prstGeom>
        </p:spPr>
      </p:pic>
      <p:sp>
        <p:nvSpPr>
          <p:cNvPr id="6" name="TextBox 5">
            <a:extLst>
              <a:ext uri="{FF2B5EF4-FFF2-40B4-BE49-F238E27FC236}">
                <a16:creationId xmlns:a16="http://schemas.microsoft.com/office/drawing/2014/main" id="{033AB66B-5EA7-2861-9CD7-FB0A5DD7FF09}"/>
              </a:ext>
            </a:extLst>
          </p:cNvPr>
          <p:cNvSpPr txBox="1"/>
          <p:nvPr/>
        </p:nvSpPr>
        <p:spPr>
          <a:xfrm>
            <a:off x="877078" y="6168330"/>
            <a:ext cx="8938727" cy="800219"/>
          </a:xfrm>
          <a:prstGeom prst="rect">
            <a:avLst/>
          </a:prstGeom>
          <a:noFill/>
        </p:spPr>
        <p:txBody>
          <a:bodyPr wrap="square" rtlCol="0">
            <a:spAutoFit/>
          </a:bodyPr>
          <a:lstStyle/>
          <a:p>
            <a:r>
              <a:rPr lang="en-IN" sz="1400" dirty="0"/>
              <a:t>Correlation analysis identifies relationships among environmental conditions, farming inputs, resource utilization, yield, economic outcomes and disease/pest risk.</a:t>
            </a:r>
          </a:p>
          <a:p>
            <a:endParaRPr lang="en-IN" dirty="0"/>
          </a:p>
        </p:txBody>
      </p:sp>
    </p:spTree>
    <p:extLst>
      <p:ext uri="{BB962C8B-B14F-4D97-AF65-F5344CB8AC3E}">
        <p14:creationId xmlns:p14="http://schemas.microsoft.com/office/powerpoint/2010/main" val="48846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AA726-D853-A4EF-364D-F6BC82B710F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869C9A5-67BA-34A6-82F0-89DE873907A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B8B1A68-2650-1DEF-3B17-4D62DE1F599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659D406-A086-4684-DF75-BBFFD65BC9E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FA36B03-E5F8-0644-4564-2696313F1FB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72863B0-7C97-EC51-C974-9DF1D6DC4886}"/>
              </a:ext>
            </a:extLst>
          </p:cNvPr>
          <p:cNvSpPr>
            <a:spLocks noGrp="1"/>
          </p:cNvSpPr>
          <p:nvPr>
            <p:ph type="body" sz="quarter" idx="12"/>
          </p:nvPr>
        </p:nvSpPr>
        <p:spPr>
          <a:xfrm>
            <a:off x="769842" y="1201586"/>
            <a:ext cx="9689774" cy="477520"/>
          </a:xfrm>
        </p:spPr>
        <p:txBody>
          <a:bodyPr>
            <a:normAutofit/>
          </a:bodyPr>
          <a:lstStyle/>
          <a:p>
            <a:pPr marL="0" indent="0">
              <a:buNone/>
            </a:pPr>
            <a:r>
              <a:rPr lang="en-IN" sz="1800" dirty="0"/>
              <a:t>Disease and Pest Risk                                           Visualization</a:t>
            </a:r>
          </a:p>
          <a:p>
            <a:pPr marL="0" indent="0">
              <a:buNone/>
            </a:pPr>
            <a:endParaRPr lang="en-IN" dirty="0"/>
          </a:p>
        </p:txBody>
      </p:sp>
      <p:pic>
        <p:nvPicPr>
          <p:cNvPr id="3" name="Picture 2">
            <a:extLst>
              <a:ext uri="{FF2B5EF4-FFF2-40B4-BE49-F238E27FC236}">
                <a16:creationId xmlns:a16="http://schemas.microsoft.com/office/drawing/2014/main" id="{6E472C8C-9EE5-D47F-62D4-69037A37EA29}"/>
              </a:ext>
            </a:extLst>
          </p:cNvPr>
          <p:cNvPicPr>
            <a:picLocks noChangeAspect="1"/>
          </p:cNvPicPr>
          <p:nvPr/>
        </p:nvPicPr>
        <p:blipFill>
          <a:blip r:embed="rId3"/>
          <a:stretch>
            <a:fillRect/>
          </a:stretch>
        </p:blipFill>
        <p:spPr>
          <a:xfrm>
            <a:off x="1025606" y="2126582"/>
            <a:ext cx="3406435" cy="2303980"/>
          </a:xfrm>
          <a:prstGeom prst="rect">
            <a:avLst/>
          </a:prstGeom>
        </p:spPr>
      </p:pic>
      <p:sp>
        <p:nvSpPr>
          <p:cNvPr id="6" name="Arrow: Right 5">
            <a:extLst>
              <a:ext uri="{FF2B5EF4-FFF2-40B4-BE49-F238E27FC236}">
                <a16:creationId xmlns:a16="http://schemas.microsoft.com/office/drawing/2014/main" id="{9761BD19-F312-873F-F4D6-30F15CEB50E9}"/>
              </a:ext>
            </a:extLst>
          </p:cNvPr>
          <p:cNvSpPr/>
          <p:nvPr/>
        </p:nvSpPr>
        <p:spPr>
          <a:xfrm>
            <a:off x="4432041" y="1275371"/>
            <a:ext cx="522514" cy="3075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B5F4B983-F530-EAF4-1705-41752AD10D24}"/>
              </a:ext>
            </a:extLst>
          </p:cNvPr>
          <p:cNvPicPr>
            <a:picLocks noChangeAspect="1"/>
          </p:cNvPicPr>
          <p:nvPr/>
        </p:nvPicPr>
        <p:blipFill>
          <a:blip r:embed="rId4"/>
          <a:stretch>
            <a:fillRect/>
          </a:stretch>
        </p:blipFill>
        <p:spPr>
          <a:xfrm>
            <a:off x="5426581" y="2126583"/>
            <a:ext cx="4138019" cy="2303979"/>
          </a:xfrm>
          <a:prstGeom prst="rect">
            <a:avLst/>
          </a:prstGeom>
        </p:spPr>
      </p:pic>
      <p:sp>
        <p:nvSpPr>
          <p:cNvPr id="12" name="TextBox 11">
            <a:extLst>
              <a:ext uri="{FF2B5EF4-FFF2-40B4-BE49-F238E27FC236}">
                <a16:creationId xmlns:a16="http://schemas.microsoft.com/office/drawing/2014/main" id="{1478B0B1-AC9C-DCDB-86BC-EAEE94406CA7}"/>
              </a:ext>
            </a:extLst>
          </p:cNvPr>
          <p:cNvSpPr txBox="1"/>
          <p:nvPr/>
        </p:nvSpPr>
        <p:spPr>
          <a:xfrm>
            <a:off x="675957" y="5439669"/>
            <a:ext cx="9783659" cy="584775"/>
          </a:xfrm>
          <a:prstGeom prst="rect">
            <a:avLst/>
          </a:prstGeom>
          <a:noFill/>
        </p:spPr>
        <p:txBody>
          <a:bodyPr wrap="square" rtlCol="0">
            <a:spAutoFit/>
          </a:bodyPr>
          <a:lstStyle/>
          <a:p>
            <a:r>
              <a:rPr lang="en-IN" sz="1600" dirty="0"/>
              <a:t>Disease and pest risk varies across seasons, highlighting periods that may require increased monitoring and preventive agricultural planning.</a:t>
            </a:r>
          </a:p>
        </p:txBody>
      </p:sp>
    </p:spTree>
    <p:extLst>
      <p:ext uri="{BB962C8B-B14F-4D97-AF65-F5344CB8AC3E}">
        <p14:creationId xmlns:p14="http://schemas.microsoft.com/office/powerpoint/2010/main" val="33287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9005E-6697-E25C-04A9-A4868712E5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C7B021-3E34-E07D-6A7B-6F25DEC4F04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E0F4435-EDAF-697B-977C-32C99D1D07D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F1FBECB-667A-CF9B-96F3-4B14A5EC50B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1C01B5B-656A-D43B-045A-FF4F3923F4F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A2A722E-94A9-3B84-3639-455508C72642}"/>
              </a:ext>
            </a:extLst>
          </p:cNvPr>
          <p:cNvSpPr>
            <a:spLocks noGrp="1"/>
          </p:cNvSpPr>
          <p:nvPr>
            <p:ph type="body" sz="quarter" idx="12"/>
          </p:nvPr>
        </p:nvSpPr>
        <p:spPr>
          <a:xfrm>
            <a:off x="675957" y="1537714"/>
            <a:ext cx="10548191" cy="477520"/>
          </a:xfrm>
        </p:spPr>
        <p:txBody>
          <a:bodyPr>
            <a:noAutofit/>
          </a:bodyPr>
          <a:lstStyle/>
          <a:p>
            <a:pPr marL="0" indent="0">
              <a:buNone/>
            </a:pPr>
            <a:r>
              <a:rPr lang="en-IN" sz="1800" dirty="0"/>
              <a:t>Automatically Find Best and Lowest Performing Seasons</a:t>
            </a:r>
          </a:p>
        </p:txBody>
      </p:sp>
      <p:pic>
        <p:nvPicPr>
          <p:cNvPr id="3" name="Picture 2">
            <a:extLst>
              <a:ext uri="{FF2B5EF4-FFF2-40B4-BE49-F238E27FC236}">
                <a16:creationId xmlns:a16="http://schemas.microsoft.com/office/drawing/2014/main" id="{62C7A603-DBCF-9412-027F-6CF48598B6C4}"/>
              </a:ext>
            </a:extLst>
          </p:cNvPr>
          <p:cNvPicPr>
            <a:picLocks noChangeAspect="1"/>
          </p:cNvPicPr>
          <p:nvPr/>
        </p:nvPicPr>
        <p:blipFill>
          <a:blip r:embed="rId3"/>
          <a:stretch>
            <a:fillRect/>
          </a:stretch>
        </p:blipFill>
        <p:spPr>
          <a:xfrm>
            <a:off x="2424997" y="2203792"/>
            <a:ext cx="3170195" cy="2881863"/>
          </a:xfrm>
          <a:prstGeom prst="rect">
            <a:avLst/>
          </a:prstGeom>
        </p:spPr>
      </p:pic>
      <p:sp>
        <p:nvSpPr>
          <p:cNvPr id="6" name="TextBox 5">
            <a:extLst>
              <a:ext uri="{FF2B5EF4-FFF2-40B4-BE49-F238E27FC236}">
                <a16:creationId xmlns:a16="http://schemas.microsoft.com/office/drawing/2014/main" id="{37FF75C3-E897-4356-A99C-4DFD86DE7DE0}"/>
              </a:ext>
            </a:extLst>
          </p:cNvPr>
          <p:cNvSpPr txBox="1"/>
          <p:nvPr/>
        </p:nvSpPr>
        <p:spPr>
          <a:xfrm>
            <a:off x="675957" y="5486400"/>
            <a:ext cx="9718345" cy="584775"/>
          </a:xfrm>
          <a:prstGeom prst="rect">
            <a:avLst/>
          </a:prstGeom>
          <a:noFill/>
        </p:spPr>
        <p:txBody>
          <a:bodyPr wrap="square" rtlCol="0">
            <a:spAutoFit/>
          </a:bodyPr>
          <a:lstStyle/>
          <a:p>
            <a:r>
              <a:rPr lang="en-IN" sz="1600" dirty="0"/>
              <a:t>The analysis identifies the highest- and lowest-performing seasons based on average agricultural yield, enabling comparison of seasonal performance.</a:t>
            </a:r>
          </a:p>
        </p:txBody>
      </p:sp>
    </p:spTree>
    <p:extLst>
      <p:ext uri="{BB962C8B-B14F-4D97-AF65-F5344CB8AC3E}">
        <p14:creationId xmlns:p14="http://schemas.microsoft.com/office/powerpoint/2010/main" val="243881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97364-68CB-C5E1-AF60-0988C8C713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F847EA-5A85-CC78-3ED1-D35E4450E70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7082DF-D1C5-805A-0FA9-41968CCAE21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DDE12C6-22D6-E252-9C46-0988E066B58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ADEAE26-0F5D-2F6D-D22F-9B91FEBD95F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15F4877-C037-D622-768B-C4B2A0FE3F90}"/>
              </a:ext>
            </a:extLst>
          </p:cNvPr>
          <p:cNvSpPr>
            <a:spLocks noGrp="1"/>
          </p:cNvSpPr>
          <p:nvPr>
            <p:ph type="body" sz="quarter" idx="12"/>
          </p:nvPr>
        </p:nvSpPr>
        <p:spPr>
          <a:xfrm>
            <a:off x="940903" y="1461866"/>
            <a:ext cx="5155097" cy="477520"/>
          </a:xfrm>
        </p:spPr>
        <p:txBody>
          <a:bodyPr>
            <a:normAutofit/>
          </a:bodyPr>
          <a:lstStyle/>
          <a:p>
            <a:pPr marL="0" indent="0">
              <a:buNone/>
            </a:pPr>
            <a:r>
              <a:rPr lang="en-IN" sz="1800" dirty="0"/>
              <a:t>Find Best Crop + Season Combination</a:t>
            </a:r>
          </a:p>
        </p:txBody>
      </p:sp>
      <p:pic>
        <p:nvPicPr>
          <p:cNvPr id="3" name="Picture 2">
            <a:extLst>
              <a:ext uri="{FF2B5EF4-FFF2-40B4-BE49-F238E27FC236}">
                <a16:creationId xmlns:a16="http://schemas.microsoft.com/office/drawing/2014/main" id="{DC7EBF4C-BA73-ED6D-718B-4C38E7ADA72D}"/>
              </a:ext>
            </a:extLst>
          </p:cNvPr>
          <p:cNvPicPr>
            <a:picLocks noChangeAspect="1"/>
          </p:cNvPicPr>
          <p:nvPr/>
        </p:nvPicPr>
        <p:blipFill>
          <a:blip r:embed="rId3"/>
          <a:stretch>
            <a:fillRect/>
          </a:stretch>
        </p:blipFill>
        <p:spPr>
          <a:xfrm>
            <a:off x="2422865" y="2125882"/>
            <a:ext cx="3215919" cy="2904068"/>
          </a:xfrm>
          <a:prstGeom prst="rect">
            <a:avLst/>
          </a:prstGeom>
        </p:spPr>
      </p:pic>
      <p:sp>
        <p:nvSpPr>
          <p:cNvPr id="6" name="TextBox 5">
            <a:extLst>
              <a:ext uri="{FF2B5EF4-FFF2-40B4-BE49-F238E27FC236}">
                <a16:creationId xmlns:a16="http://schemas.microsoft.com/office/drawing/2014/main" id="{FA0DEE39-096B-01B6-BDE1-54066556D52F}"/>
              </a:ext>
            </a:extLst>
          </p:cNvPr>
          <p:cNvSpPr txBox="1"/>
          <p:nvPr/>
        </p:nvSpPr>
        <p:spPr>
          <a:xfrm>
            <a:off x="558348" y="5511370"/>
            <a:ext cx="9649342" cy="584775"/>
          </a:xfrm>
          <a:prstGeom prst="rect">
            <a:avLst/>
          </a:prstGeom>
          <a:noFill/>
        </p:spPr>
        <p:txBody>
          <a:bodyPr wrap="square" rtlCol="0">
            <a:spAutoFit/>
          </a:bodyPr>
          <a:lstStyle/>
          <a:p>
            <a:r>
              <a:rPr lang="en-IN" sz="1600" dirty="0"/>
              <a:t>Crop-season analysis ranks crop and season combinations based on average yield and profit to identify the most promising combinations.</a:t>
            </a:r>
          </a:p>
        </p:txBody>
      </p:sp>
    </p:spTree>
    <p:extLst>
      <p:ext uri="{BB962C8B-B14F-4D97-AF65-F5344CB8AC3E}">
        <p14:creationId xmlns:p14="http://schemas.microsoft.com/office/powerpoint/2010/main" val="123738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A9F14-7621-280C-8940-7B439C9FE4A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6E36F8-1575-0863-E9A4-EDFB698E837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6F25CD9-4637-0A14-C335-9AE49BE829E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0FF2DCD-FBFB-EFF4-55FA-BF4606A4C6A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A6CF4E6-41CC-E2EB-BBF0-D3E6BE5D9D8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8B95F8B-4A3B-699A-D1CB-66AACBDE4F5D}"/>
              </a:ext>
            </a:extLst>
          </p:cNvPr>
          <p:cNvSpPr>
            <a:spLocks noGrp="1"/>
          </p:cNvSpPr>
          <p:nvPr>
            <p:ph type="body" sz="quarter" idx="12"/>
          </p:nvPr>
        </p:nvSpPr>
        <p:spPr>
          <a:xfrm>
            <a:off x="940903" y="1369650"/>
            <a:ext cx="5155097" cy="477520"/>
          </a:xfrm>
        </p:spPr>
        <p:txBody>
          <a:bodyPr>
            <a:normAutofit/>
          </a:bodyPr>
          <a:lstStyle/>
          <a:p>
            <a:pPr marL="0" indent="0">
              <a:buNone/>
            </a:pPr>
            <a:r>
              <a:rPr lang="en-IN" sz="1800" dirty="0"/>
              <a:t>Unusual &amp; Significant Observations</a:t>
            </a:r>
          </a:p>
        </p:txBody>
      </p:sp>
      <p:sp>
        <p:nvSpPr>
          <p:cNvPr id="2" name="TextBox 1">
            <a:extLst>
              <a:ext uri="{FF2B5EF4-FFF2-40B4-BE49-F238E27FC236}">
                <a16:creationId xmlns:a16="http://schemas.microsoft.com/office/drawing/2014/main" id="{45DC3D99-620C-242C-28C3-50603A2E899E}"/>
              </a:ext>
            </a:extLst>
          </p:cNvPr>
          <p:cNvSpPr txBox="1"/>
          <p:nvPr/>
        </p:nvSpPr>
        <p:spPr>
          <a:xfrm>
            <a:off x="940903" y="1941449"/>
            <a:ext cx="7447317" cy="3724096"/>
          </a:xfrm>
          <a:prstGeom prst="rect">
            <a:avLst/>
          </a:prstGeom>
          <a:noFill/>
        </p:spPr>
        <p:txBody>
          <a:bodyPr wrap="square" rtlCol="0">
            <a:spAutoFit/>
          </a:bodyPr>
          <a:lstStyle/>
          <a:p>
            <a:endParaRPr lang="en-IN" sz="1600" dirty="0"/>
          </a:p>
          <a:p>
            <a:endParaRPr lang="en-IN" sz="1600" dirty="0"/>
          </a:p>
          <a:p>
            <a:r>
              <a:rPr lang="en-IN" sz="1600" dirty="0"/>
              <a:t>The analysis identified notable variations in agricultural performance across seasons, crop–season combinations, irrigation methods, regions, and environmental conditions. These variations provide important insights into factors associated with agricultural productivity, resource efficiency, economic performance, and agricultural risk.</a:t>
            </a:r>
          </a:p>
          <a:p>
            <a:endParaRPr lang="en-IN" dirty="0"/>
          </a:p>
          <a:p>
            <a:endParaRPr lang="en-IN" dirty="0"/>
          </a:p>
          <a:p>
            <a:endParaRPr lang="en-IN" dirty="0"/>
          </a:p>
          <a:p>
            <a:endParaRPr lang="en-IN" dirty="0"/>
          </a:p>
          <a:p>
            <a:endParaRPr lang="en-IN" dirty="0"/>
          </a:p>
          <a:p>
            <a:endParaRPr lang="en-IN" dirty="0"/>
          </a:p>
          <a:p>
            <a:r>
              <a:rPr lang="en-IN" sz="1600" dirty="0">
                <a:solidFill>
                  <a:schemeClr val="accent2">
                    <a:lumMod val="75000"/>
                  </a:schemeClr>
                </a:solidFill>
              </a:rPr>
              <a:t>The reference code is in the uploaded google </a:t>
            </a:r>
            <a:r>
              <a:rPr lang="en-IN" sz="1600" dirty="0" err="1">
                <a:solidFill>
                  <a:schemeClr val="accent2">
                    <a:lumMod val="75000"/>
                  </a:schemeClr>
                </a:solidFill>
              </a:rPr>
              <a:t>colab</a:t>
            </a:r>
            <a:r>
              <a:rPr lang="en-IN" sz="1600" dirty="0">
                <a:solidFill>
                  <a:schemeClr val="accent2">
                    <a:lumMod val="75000"/>
                  </a:schemeClr>
                </a:solidFill>
              </a:rPr>
              <a:t> notebook💻</a:t>
            </a:r>
          </a:p>
        </p:txBody>
      </p:sp>
    </p:spTree>
    <p:extLst>
      <p:ext uri="{BB962C8B-B14F-4D97-AF65-F5344CB8AC3E}">
        <p14:creationId xmlns:p14="http://schemas.microsoft.com/office/powerpoint/2010/main" val="189464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AFD38-6102-188A-6C89-56E7CA3DA2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E94422-416C-C4BC-6484-81FFEE7235D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2A811B4-DA68-00AF-2093-8A70D0F0AD9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70C1466-C682-1ACA-1573-A04EC7F6402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823B280-0185-9956-375B-6B04B2C1C2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5F7D588-4C5A-A0F5-1CB9-51AEBDFBDBD8}"/>
              </a:ext>
            </a:extLst>
          </p:cNvPr>
          <p:cNvSpPr>
            <a:spLocks noGrp="1"/>
          </p:cNvSpPr>
          <p:nvPr>
            <p:ph type="body" sz="quarter" idx="12"/>
          </p:nvPr>
        </p:nvSpPr>
        <p:spPr>
          <a:xfrm>
            <a:off x="940903" y="1369650"/>
            <a:ext cx="5155097" cy="477520"/>
          </a:xfrm>
        </p:spPr>
        <p:txBody>
          <a:bodyPr>
            <a:normAutofit/>
          </a:bodyPr>
          <a:lstStyle/>
          <a:p>
            <a:pPr marL="0" indent="0">
              <a:buNone/>
            </a:pPr>
            <a:r>
              <a:rPr lang="en-IN" sz="1800" dirty="0"/>
              <a:t>Key Data-Driven Insights</a:t>
            </a:r>
          </a:p>
        </p:txBody>
      </p:sp>
      <p:sp>
        <p:nvSpPr>
          <p:cNvPr id="2" name="TextBox 1">
            <a:extLst>
              <a:ext uri="{FF2B5EF4-FFF2-40B4-BE49-F238E27FC236}">
                <a16:creationId xmlns:a16="http://schemas.microsoft.com/office/drawing/2014/main" id="{EAE22835-C119-A625-D556-696EA2F19F6A}"/>
              </a:ext>
            </a:extLst>
          </p:cNvPr>
          <p:cNvSpPr txBox="1"/>
          <p:nvPr/>
        </p:nvSpPr>
        <p:spPr>
          <a:xfrm>
            <a:off x="940903" y="1941449"/>
            <a:ext cx="7447317" cy="3754874"/>
          </a:xfrm>
          <a:prstGeom prst="rect">
            <a:avLst/>
          </a:prstGeom>
          <a:noFill/>
        </p:spPr>
        <p:txBody>
          <a:bodyPr wrap="square" rtlCol="0">
            <a:spAutoFit/>
          </a:bodyPr>
          <a:lstStyle/>
          <a:p>
            <a:endParaRPr lang="en-IN" sz="1600" dirty="0"/>
          </a:p>
          <a:p>
            <a:endParaRPr lang="en-IN" b="1" dirty="0"/>
          </a:p>
          <a:p>
            <a:r>
              <a:rPr lang="en-IN" sz="1600" dirty="0"/>
              <a:t>The analysis generated data-driven insights by comparing seasonal yield, crop–season performance, environmental relationships, irrigation practices, water-use efficiency, economic outcomes, regional variations, and disease/pest risk. These findings provide an evidence-based understanding of agricultural performance and support informed agricultural planning.</a:t>
            </a:r>
          </a:p>
          <a:p>
            <a:endParaRPr lang="en-IN" dirty="0"/>
          </a:p>
          <a:p>
            <a:endParaRPr lang="en-IN" dirty="0"/>
          </a:p>
          <a:p>
            <a:endParaRPr lang="en-IN" dirty="0"/>
          </a:p>
          <a:p>
            <a:endParaRPr lang="en-IN" dirty="0"/>
          </a:p>
          <a:p>
            <a:endParaRPr lang="en-IN" dirty="0"/>
          </a:p>
          <a:p>
            <a:endParaRPr lang="en-IN" dirty="0"/>
          </a:p>
          <a:p>
            <a:r>
              <a:rPr lang="en-IN" sz="1600" dirty="0">
                <a:solidFill>
                  <a:schemeClr val="accent2">
                    <a:lumMod val="75000"/>
                  </a:schemeClr>
                </a:solidFill>
              </a:rPr>
              <a:t>The reference code is in the uploaded google </a:t>
            </a:r>
            <a:r>
              <a:rPr lang="en-IN" sz="1600" dirty="0" err="1">
                <a:solidFill>
                  <a:schemeClr val="accent2">
                    <a:lumMod val="75000"/>
                  </a:schemeClr>
                </a:solidFill>
              </a:rPr>
              <a:t>colab</a:t>
            </a:r>
            <a:r>
              <a:rPr lang="en-IN" sz="1600" dirty="0">
                <a:solidFill>
                  <a:schemeClr val="accent2">
                    <a:lumMod val="75000"/>
                  </a:schemeClr>
                </a:solidFill>
              </a:rPr>
              <a:t> notebook💻</a:t>
            </a:r>
          </a:p>
        </p:txBody>
      </p:sp>
    </p:spTree>
    <p:extLst>
      <p:ext uri="{BB962C8B-B14F-4D97-AF65-F5344CB8AC3E}">
        <p14:creationId xmlns:p14="http://schemas.microsoft.com/office/powerpoint/2010/main" val="406794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388CB-F003-3106-BBBD-C923B65E645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66BBE5-9D72-6B96-AB90-3A24C27B8BC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758677D-07A2-BF83-4F41-E585CA29BE1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1FF8E68-6007-1FF4-36C6-266ADDFFA42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72F6A5-F8AE-14ED-9F77-14A86CDAE46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7029A70-9B65-3777-9DDB-3B1AE1575DE0}"/>
              </a:ext>
            </a:extLst>
          </p:cNvPr>
          <p:cNvSpPr>
            <a:spLocks noGrp="1"/>
          </p:cNvSpPr>
          <p:nvPr>
            <p:ph type="body" sz="quarter" idx="12"/>
          </p:nvPr>
        </p:nvSpPr>
        <p:spPr>
          <a:xfrm>
            <a:off x="940903" y="1369650"/>
            <a:ext cx="5155097" cy="477520"/>
          </a:xfrm>
        </p:spPr>
        <p:txBody>
          <a:bodyPr>
            <a:normAutofit/>
          </a:bodyPr>
          <a:lstStyle/>
          <a:p>
            <a:pPr marL="0" indent="0">
              <a:buNone/>
            </a:pPr>
            <a:r>
              <a:rPr lang="en-IN" sz="1800" dirty="0"/>
              <a:t>Using ANOVA for conclusion</a:t>
            </a:r>
          </a:p>
        </p:txBody>
      </p:sp>
      <p:sp>
        <p:nvSpPr>
          <p:cNvPr id="2" name="TextBox 1">
            <a:extLst>
              <a:ext uri="{FF2B5EF4-FFF2-40B4-BE49-F238E27FC236}">
                <a16:creationId xmlns:a16="http://schemas.microsoft.com/office/drawing/2014/main" id="{24BF801E-6B8E-A4C8-27FC-BBF0AF4E43FF}"/>
              </a:ext>
            </a:extLst>
          </p:cNvPr>
          <p:cNvSpPr txBox="1"/>
          <p:nvPr/>
        </p:nvSpPr>
        <p:spPr>
          <a:xfrm>
            <a:off x="940903" y="1941449"/>
            <a:ext cx="8977538" cy="3170099"/>
          </a:xfrm>
          <a:prstGeom prst="rect">
            <a:avLst/>
          </a:prstGeom>
          <a:noFill/>
        </p:spPr>
        <p:txBody>
          <a:bodyPr wrap="square" rtlCol="0">
            <a:spAutoFit/>
          </a:bodyPr>
          <a:lstStyle/>
          <a:p>
            <a:endParaRPr lang="en-IN" sz="1600" dirty="0"/>
          </a:p>
          <a:p>
            <a:endParaRPr lang="en-IN" sz="1600" b="1" dirty="0"/>
          </a:p>
          <a:p>
            <a:r>
              <a:rPr lang="en-IN" sz="1600" b="1" dirty="0"/>
              <a:t>Statistical Significance — One-Way ANOVA</a:t>
            </a:r>
          </a:p>
          <a:p>
            <a:pPr lvl="3"/>
            <a:endParaRPr lang="en-IN" sz="1600" b="1" dirty="0"/>
          </a:p>
          <a:p>
            <a:pPr lvl="3"/>
            <a:r>
              <a:rPr lang="en-IN" sz="1600" dirty="0"/>
              <a:t>A one-way ANOVA test was performed to determine whether the mean agricultural yield differs significantly across seasons. A significance level of 0.05 was used for statistical interpretation.</a:t>
            </a:r>
          </a:p>
          <a:p>
            <a:endParaRPr lang="en-IN" dirty="0"/>
          </a:p>
          <a:p>
            <a:endParaRPr lang="en-IN" dirty="0"/>
          </a:p>
          <a:p>
            <a:endParaRPr lang="en-IN" dirty="0"/>
          </a:p>
          <a:p>
            <a:endParaRPr lang="en-IN" dirty="0"/>
          </a:p>
          <a:p>
            <a:r>
              <a:rPr lang="en-IN" sz="1600" dirty="0">
                <a:solidFill>
                  <a:schemeClr val="accent2">
                    <a:lumMod val="75000"/>
                  </a:schemeClr>
                </a:solidFill>
              </a:rPr>
              <a:t>The reference code is in the uploaded google </a:t>
            </a:r>
            <a:r>
              <a:rPr lang="en-IN" sz="1600" dirty="0" err="1">
                <a:solidFill>
                  <a:schemeClr val="accent2">
                    <a:lumMod val="75000"/>
                  </a:schemeClr>
                </a:solidFill>
              </a:rPr>
              <a:t>colab</a:t>
            </a:r>
            <a:r>
              <a:rPr lang="en-IN" sz="1600" dirty="0">
                <a:solidFill>
                  <a:schemeClr val="accent2">
                    <a:lumMod val="75000"/>
                  </a:schemeClr>
                </a:solidFill>
              </a:rPr>
              <a:t> notebook💻</a:t>
            </a:r>
          </a:p>
        </p:txBody>
      </p:sp>
    </p:spTree>
    <p:extLst>
      <p:ext uri="{BB962C8B-B14F-4D97-AF65-F5344CB8AC3E}">
        <p14:creationId xmlns:p14="http://schemas.microsoft.com/office/powerpoint/2010/main" val="165975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CEF79-3BE2-42C6-54DC-6F02CEEE40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3D76812-4112-AFCD-BEE3-20A6C20919F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15AAB10-F52B-5810-420A-21F169E2F5C8}"/>
              </a:ext>
            </a:extLst>
          </p:cNvPr>
          <p:cNvSpPr>
            <a:spLocks noGrp="1"/>
          </p:cNvSpPr>
          <p:nvPr>
            <p:ph type="title"/>
          </p:nvPr>
        </p:nvSpPr>
        <p:spPr>
          <a:xfrm>
            <a:off x="675957" y="370589"/>
            <a:ext cx="4073325" cy="830997"/>
          </a:xfrm>
        </p:spPr>
        <p:txBody>
          <a:bodyPr>
            <a:normAutofit/>
          </a:bodyPr>
          <a:lstStyle/>
          <a:p>
            <a:r>
              <a:rPr lang="en-IN" dirty="0"/>
              <a:t>CONCLUSION</a:t>
            </a:r>
          </a:p>
        </p:txBody>
      </p:sp>
      <p:sp>
        <p:nvSpPr>
          <p:cNvPr id="7" name="Text Placeholder 30">
            <a:extLst>
              <a:ext uri="{FF2B5EF4-FFF2-40B4-BE49-F238E27FC236}">
                <a16:creationId xmlns:a16="http://schemas.microsoft.com/office/drawing/2014/main" id="{B5A57F52-ED6F-0555-6EBD-F995761FBB8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56CDD2-72FC-4FCE-C7BE-25D72AEB998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581E803-4BEB-E859-F1A7-A848FC2C1487}"/>
              </a:ext>
            </a:extLst>
          </p:cNvPr>
          <p:cNvSpPr>
            <a:spLocks noGrp="1"/>
          </p:cNvSpPr>
          <p:nvPr>
            <p:ph type="body" sz="quarter" idx="12"/>
          </p:nvPr>
        </p:nvSpPr>
        <p:spPr>
          <a:xfrm>
            <a:off x="940903" y="1369650"/>
            <a:ext cx="9565366" cy="3706203"/>
          </a:xfrm>
        </p:spPr>
        <p:txBody>
          <a:bodyPr>
            <a:normAutofit fontScale="62500" lnSpcReduction="20000"/>
          </a:bodyPr>
          <a:lstStyle/>
          <a:p>
            <a:pPr marL="0" indent="0">
              <a:buNone/>
            </a:pPr>
            <a:endParaRPr lang="en-IN" sz="1800" b="1" dirty="0"/>
          </a:p>
          <a:p>
            <a:r>
              <a:rPr lang="en-IN" sz="2900" dirty="0"/>
              <a:t>The analysis provides a comprehensive assessment of seasonal agricultural performance using yield, production, environmental conditions, resource utilization, economic outcomes, crop–season combinations, regional variations, and disease/pest risk.</a:t>
            </a:r>
          </a:p>
          <a:p>
            <a:pPr marL="0" indent="0">
              <a:buNone/>
            </a:pPr>
            <a:endParaRPr lang="en-IN" sz="2900" dirty="0"/>
          </a:p>
          <a:p>
            <a:r>
              <a:rPr lang="en-IN" sz="2900" dirty="0"/>
              <a:t>The comparative analysis highlights variations in agricultural performance across seasons and identifies important crop–season and regional patterns. Environmental and resource-related factors were also examined to understand their relationship with agricultural productivity.</a:t>
            </a:r>
          </a:p>
          <a:p>
            <a:pPr marL="0" indent="0">
              <a:buNone/>
            </a:pPr>
            <a:endParaRPr lang="en-IN" sz="2900" dirty="0"/>
          </a:p>
          <a:p>
            <a:r>
              <a:rPr lang="en-IN" sz="2900" dirty="0"/>
              <a:t>The findings provide an evidence-based foundation for improving crop planning, resource allocation, water management, risk monitoring, and seasonal agricultural decision-making.</a:t>
            </a:r>
          </a:p>
          <a:p>
            <a:pPr marL="0" indent="0">
              <a:buNone/>
            </a:pPr>
            <a:endParaRPr lang="en-IN" sz="1800" dirty="0"/>
          </a:p>
        </p:txBody>
      </p:sp>
    </p:spTree>
    <p:extLst>
      <p:ext uri="{BB962C8B-B14F-4D97-AF65-F5344CB8AC3E}">
        <p14:creationId xmlns:p14="http://schemas.microsoft.com/office/powerpoint/2010/main" val="191502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Effect transition="in" filter="fade">
                                      <p:cBhvr>
                                        <p:cTn id="35" dur="1000"/>
                                        <p:tgtEl>
                                          <p:spTgt spid="10">
                                            <p:txEl>
                                              <p:pRg st="3" end="3"/>
                                            </p:txEl>
                                          </p:spTgt>
                                        </p:tgtEl>
                                      </p:cBhvr>
                                    </p:animEffect>
                                    <p:anim calcmode="lin" valueType="num">
                                      <p:cBhvr>
                                        <p:cTn id="36"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5" end="5"/>
                                            </p:txEl>
                                          </p:spTgt>
                                        </p:tgtEl>
                                        <p:attrNameLst>
                                          <p:attrName>style.visibility</p:attrName>
                                        </p:attrNameLst>
                                      </p:cBhvr>
                                      <p:to>
                                        <p:strVal val="visible"/>
                                      </p:to>
                                    </p:set>
                                    <p:animEffect transition="in" filter="fade">
                                      <p:cBhvr>
                                        <p:cTn id="42" dur="1000"/>
                                        <p:tgtEl>
                                          <p:spTgt spid="10">
                                            <p:txEl>
                                              <p:pRg st="5" end="5"/>
                                            </p:txEl>
                                          </p:spTgt>
                                        </p:tgtEl>
                                      </p:cBhvr>
                                    </p:animEffect>
                                    <p:anim calcmode="lin" valueType="num">
                                      <p:cBhvr>
                                        <p:cTn id="43"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A8781-E649-3B06-8137-3C01A2F531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8FADB50-569C-587D-2398-421EF9EC616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B0523B9-4086-E236-5F2D-A6318292F390}"/>
              </a:ext>
            </a:extLst>
          </p:cNvPr>
          <p:cNvSpPr>
            <a:spLocks noGrp="1"/>
          </p:cNvSpPr>
          <p:nvPr>
            <p:ph type="title"/>
          </p:nvPr>
        </p:nvSpPr>
        <p:spPr>
          <a:xfrm>
            <a:off x="675956" y="370589"/>
            <a:ext cx="9410435" cy="830997"/>
          </a:xfrm>
        </p:spPr>
        <p:txBody>
          <a:bodyPr>
            <a:normAutofit fontScale="90000"/>
          </a:bodyPr>
          <a:lstStyle/>
          <a:p>
            <a:r>
              <a:rPr lang="en-IN" dirty="0"/>
              <a:t>DATA-DRIVEN RECOMMENDATIONS</a:t>
            </a:r>
            <a:br>
              <a:rPr lang="en-IN" dirty="0"/>
            </a:br>
            <a:endParaRPr lang="en-IN" dirty="0"/>
          </a:p>
        </p:txBody>
      </p:sp>
      <p:sp>
        <p:nvSpPr>
          <p:cNvPr id="7" name="Text Placeholder 30">
            <a:extLst>
              <a:ext uri="{FF2B5EF4-FFF2-40B4-BE49-F238E27FC236}">
                <a16:creationId xmlns:a16="http://schemas.microsoft.com/office/drawing/2014/main" id="{C14C7635-D378-2E0F-0D12-2C034242CDE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7FFE52D-5F89-7AB1-98E0-13C82B303B3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3C7840DE-1033-4E8F-02BF-0E2F9C08940F}"/>
              </a:ext>
            </a:extLst>
          </p:cNvPr>
          <p:cNvSpPr>
            <a:spLocks noGrp="1"/>
          </p:cNvSpPr>
          <p:nvPr>
            <p:ph type="body" sz="quarter" idx="12"/>
          </p:nvPr>
        </p:nvSpPr>
        <p:spPr>
          <a:xfrm>
            <a:off x="744375" y="1596157"/>
            <a:ext cx="9052767" cy="4330092"/>
          </a:xfrm>
        </p:spPr>
        <p:txBody>
          <a:bodyPr>
            <a:normAutofit fontScale="85000" lnSpcReduction="20000"/>
          </a:bodyPr>
          <a:lstStyle/>
          <a:p>
            <a:pPr marL="0" indent="0">
              <a:buNone/>
            </a:pPr>
            <a:r>
              <a:rPr lang="en-IN" dirty="0"/>
              <a:t>Based on the analytical findings, the following recommendations are proposed:</a:t>
            </a:r>
          </a:p>
          <a:p>
            <a:pPr lvl="0"/>
            <a:r>
              <a:rPr lang="en-IN" b="1" dirty="0"/>
              <a:t>Optimize crop selection:</a:t>
            </a:r>
            <a:r>
              <a:rPr lang="en-IN" dirty="0"/>
              <a:t> Align crop selection with seasons and conditions associated with stronger historical performance.</a:t>
            </a:r>
          </a:p>
          <a:p>
            <a:pPr lvl="0"/>
            <a:r>
              <a:rPr lang="en-IN" b="1" dirty="0"/>
              <a:t>Improve water management:</a:t>
            </a:r>
            <a:r>
              <a:rPr lang="en-IN" dirty="0"/>
              <a:t> Use water-use efficiency results to support more effective irrigation planning.</a:t>
            </a:r>
          </a:p>
          <a:p>
            <a:pPr lvl="0"/>
            <a:r>
              <a:rPr lang="en-IN" b="1" dirty="0"/>
              <a:t>Monitor environmental conditions:</a:t>
            </a:r>
            <a:r>
              <a:rPr lang="en-IN" dirty="0"/>
              <a:t> Consider rainfall, temperature, humidity, sunlight, soil moisture, and soil characteristics during seasonal planning.</a:t>
            </a:r>
          </a:p>
          <a:p>
            <a:pPr lvl="0"/>
            <a:r>
              <a:rPr lang="en-IN" b="1" dirty="0"/>
              <a:t>Optimize agricultural inputs:</a:t>
            </a:r>
            <a:r>
              <a:rPr lang="en-IN" dirty="0"/>
              <a:t> Evaluate fertilizer and pesticide usage according to crop and seasonal requirements.</a:t>
            </a:r>
          </a:p>
          <a:p>
            <a:pPr lvl="0"/>
            <a:r>
              <a:rPr lang="en-IN" b="1" dirty="0"/>
              <a:t>Strengthen risk monitoring:</a:t>
            </a:r>
            <a:r>
              <a:rPr lang="en-IN" dirty="0"/>
              <a:t> Increase disease and pest monitoring during seasons or regions showing comparatively higher risk.</a:t>
            </a:r>
          </a:p>
          <a:p>
            <a:pPr lvl="0"/>
            <a:r>
              <a:rPr lang="en-IN" b="1" dirty="0"/>
              <a:t>Support regional planning:</a:t>
            </a:r>
            <a:r>
              <a:rPr lang="en-IN" dirty="0"/>
              <a:t> Develop location-specific strategies based on state, district, crop, and seasonal performance.</a:t>
            </a:r>
          </a:p>
          <a:p>
            <a:pPr lvl="0"/>
            <a:r>
              <a:rPr lang="en-IN" b="1" dirty="0"/>
              <a:t>Use data-driven planning:</a:t>
            </a:r>
            <a:r>
              <a:rPr lang="en-IN" dirty="0"/>
              <a:t> Combine historical agricultural performance with environmental and economic indicators to support future decision-making.</a:t>
            </a:r>
          </a:p>
          <a:p>
            <a:endParaRPr lang="en-IN" dirty="0"/>
          </a:p>
        </p:txBody>
      </p:sp>
    </p:spTree>
    <p:extLst>
      <p:ext uri="{BB962C8B-B14F-4D97-AF65-F5344CB8AC3E}">
        <p14:creationId xmlns:p14="http://schemas.microsoft.com/office/powerpoint/2010/main" val="147796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3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DB6C0C44-13AA-3417-CFD4-0B9DEFCEF491}"/>
              </a:ext>
            </a:extLst>
          </p:cNvPr>
          <p:cNvSpPr txBox="1"/>
          <p:nvPr/>
        </p:nvSpPr>
        <p:spPr>
          <a:xfrm>
            <a:off x="1286853" y="1782395"/>
            <a:ext cx="9461241" cy="3293209"/>
          </a:xfrm>
          <a:prstGeom prst="rect">
            <a:avLst/>
          </a:prstGeom>
          <a:noFill/>
        </p:spPr>
        <p:txBody>
          <a:bodyPr wrap="square" rtlCol="0">
            <a:spAutoFit/>
          </a:bodyPr>
          <a:lstStyle/>
          <a:p>
            <a:pPr marL="1657350" lvl="3" indent="-285750">
              <a:buClr>
                <a:schemeClr val="accent3">
                  <a:lumMod val="75000"/>
                </a:schemeClr>
              </a:buClr>
              <a:buFont typeface="Wingdings" panose="05000000000000000000" pitchFamily="2" charset="2"/>
              <a:buChar char="Ø"/>
            </a:pPr>
            <a:r>
              <a:rPr lang="en-IN" sz="1600" dirty="0"/>
              <a:t>Machine Learning-Based Yield Prediction</a:t>
            </a:r>
          </a:p>
          <a:p>
            <a:pPr lvl="3">
              <a:buClr>
                <a:schemeClr val="accent3">
                  <a:lumMod val="75000"/>
                </a:schemeClr>
              </a:buClr>
            </a:pPr>
            <a:endParaRPr lang="en-IN" sz="1600" dirty="0"/>
          </a:p>
          <a:p>
            <a:pPr marL="1657350" lvl="3" indent="-285750">
              <a:buClr>
                <a:schemeClr val="accent3">
                  <a:lumMod val="75000"/>
                </a:schemeClr>
              </a:buClr>
              <a:buFont typeface="Wingdings" panose="05000000000000000000" pitchFamily="2" charset="2"/>
              <a:buChar char="Ø"/>
            </a:pPr>
            <a:r>
              <a:rPr lang="en-IN" sz="1600" dirty="0"/>
              <a:t>Region and season-based crop recommendation</a:t>
            </a:r>
          </a:p>
          <a:p>
            <a:pPr lvl="3">
              <a:buClr>
                <a:schemeClr val="accent3">
                  <a:lumMod val="75000"/>
                </a:schemeClr>
              </a:buClr>
            </a:pPr>
            <a:endParaRPr lang="en-IN" sz="1600" dirty="0"/>
          </a:p>
          <a:p>
            <a:pPr marL="1657350" lvl="3" indent="-285750">
              <a:buClr>
                <a:schemeClr val="accent3">
                  <a:lumMod val="75000"/>
                </a:schemeClr>
              </a:buClr>
              <a:buFont typeface="Wingdings" panose="05000000000000000000" pitchFamily="2" charset="2"/>
              <a:buChar char="Ø"/>
            </a:pPr>
            <a:r>
              <a:rPr lang="en-IN" sz="1600" dirty="0"/>
              <a:t>Real-Time Weather Integration</a:t>
            </a:r>
          </a:p>
          <a:p>
            <a:pPr lvl="3">
              <a:buClr>
                <a:schemeClr val="accent3">
                  <a:lumMod val="75000"/>
                </a:schemeClr>
              </a:buClr>
            </a:pPr>
            <a:endParaRPr lang="en-IN" sz="1600" dirty="0"/>
          </a:p>
          <a:p>
            <a:pPr marL="1657350" lvl="3" indent="-285750">
              <a:buClr>
                <a:schemeClr val="accent3">
                  <a:lumMod val="75000"/>
                </a:schemeClr>
              </a:buClr>
              <a:buFont typeface="Wingdings" panose="05000000000000000000" pitchFamily="2" charset="2"/>
              <a:buChar char="Ø"/>
            </a:pPr>
            <a:r>
              <a:rPr lang="en-IN" sz="1600" dirty="0"/>
              <a:t>Interactive agricultural analytics dashboard</a:t>
            </a:r>
          </a:p>
          <a:p>
            <a:pPr lvl="3">
              <a:buClr>
                <a:schemeClr val="accent3">
                  <a:lumMod val="75000"/>
                </a:schemeClr>
              </a:buClr>
            </a:pPr>
            <a:endParaRPr lang="en-IN" sz="1600" dirty="0"/>
          </a:p>
          <a:p>
            <a:pPr marL="1657350" lvl="3" indent="-285750">
              <a:buClr>
                <a:schemeClr val="accent3">
                  <a:lumMod val="75000"/>
                </a:schemeClr>
              </a:buClr>
              <a:buFont typeface="Wingdings" panose="05000000000000000000" pitchFamily="2" charset="2"/>
              <a:buChar char="Ø"/>
            </a:pPr>
            <a:r>
              <a:rPr lang="en-IN" sz="1600" dirty="0"/>
              <a:t>Disease, resource-use, and market-price forecasting</a:t>
            </a:r>
          </a:p>
          <a:p>
            <a:pPr lvl="3">
              <a:buClr>
                <a:schemeClr val="accent3">
                  <a:lumMod val="75000"/>
                </a:schemeClr>
              </a:buClr>
            </a:pPr>
            <a:endParaRPr lang="en-IN" sz="1600" dirty="0"/>
          </a:p>
          <a:p>
            <a:pPr marL="1657350" lvl="3" indent="-285750">
              <a:buClr>
                <a:schemeClr val="accent3">
                  <a:lumMod val="75000"/>
                </a:schemeClr>
              </a:buClr>
              <a:buFont typeface="Wingdings" panose="05000000000000000000" pitchFamily="2" charset="2"/>
              <a:buChar char="Ø"/>
            </a:pPr>
            <a:r>
              <a:rPr lang="en-IN" sz="1600" dirty="0"/>
              <a:t>Scalable Agricultural Decision-Support System</a:t>
            </a:r>
          </a:p>
          <a:p>
            <a:pPr lvl="3">
              <a:buClr>
                <a:schemeClr val="accent3">
                  <a:lumMod val="75000"/>
                </a:schemeClr>
              </a:buClr>
            </a:pPr>
            <a:endParaRPr lang="en-IN" sz="1600" dirty="0"/>
          </a:p>
          <a:p>
            <a:pPr marL="1657350" lvl="3" indent="-285750">
              <a:buClr>
                <a:schemeClr val="accent3">
                  <a:lumMod val="75000"/>
                </a:schemeClr>
              </a:buClr>
              <a:buFont typeface="Wingdings" panose="05000000000000000000" pitchFamily="2" charset="2"/>
              <a:buChar char="Ø"/>
            </a:pPr>
            <a:r>
              <a:rPr lang="en-IN" sz="1600" dirty="0"/>
              <a:t>Market Price Forecasting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3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35051" y="1201586"/>
            <a:ext cx="9879650" cy="4247317"/>
          </a:xfrm>
          <a:prstGeom prst="rect">
            <a:avLst/>
          </a:prstGeom>
          <a:noFill/>
        </p:spPr>
        <p:txBody>
          <a:bodyPr wrap="square">
            <a:spAutoFit/>
          </a:bodyPr>
          <a:lstStyle/>
          <a:p>
            <a:r>
              <a:rPr lang="en-US" dirty="0">
                <a:solidFill>
                  <a:schemeClr val="accent3">
                    <a:lumMod val="75000"/>
                  </a:schemeClr>
                </a:solidFill>
                <a:hlinkClick r:id="rId3"/>
              </a:rPr>
              <a:t>https://github.com/its-nishar/Seasonal_Agriculture_Performance_Analysis.git</a:t>
            </a:r>
            <a:endParaRPr lang="en-US" dirty="0">
              <a:solidFill>
                <a:schemeClr val="accent3">
                  <a:lumMod val="75000"/>
                </a:schemeClr>
              </a:solidFill>
            </a:endParaRPr>
          </a:p>
          <a:p>
            <a:endParaRPr lang="en-US" dirty="0">
              <a:solidFill>
                <a:schemeClr val="accent3">
                  <a:lumMod val="75000"/>
                </a:schemeClr>
              </a:solidFill>
            </a:endParaRPr>
          </a:p>
          <a:p>
            <a:r>
              <a:rPr lang="en-IN" dirty="0"/>
              <a:t>Project Repository</a:t>
            </a:r>
            <a:br>
              <a:rPr lang="en-IN" dirty="0"/>
            </a:br>
            <a:r>
              <a:rPr lang="en-IN" dirty="0"/>
              <a:t>Complete source code, dataset, analysis, visualizations, and project documentation are available in the GitHub repository.</a:t>
            </a:r>
          </a:p>
          <a:p>
            <a:endParaRPr lang="en-IN" dirty="0"/>
          </a:p>
          <a:p>
            <a:r>
              <a:rPr lang="en-IN" dirty="0"/>
              <a:t>Repository Includes:</a:t>
            </a:r>
          </a:p>
          <a:p>
            <a:pPr lvl="3"/>
            <a:r>
              <a:rPr lang="en-IN" dirty="0"/>
              <a:t>📓 Google </a:t>
            </a:r>
            <a:r>
              <a:rPr lang="en-IN" dirty="0" err="1"/>
              <a:t>Colab</a:t>
            </a:r>
            <a:r>
              <a:rPr lang="en-IN" dirty="0"/>
              <a:t> </a:t>
            </a:r>
          </a:p>
          <a:p>
            <a:pPr lvl="3"/>
            <a:r>
              <a:rPr lang="en-IN" dirty="0"/>
              <a:t>📊 Agricultural Dataset </a:t>
            </a:r>
          </a:p>
          <a:p>
            <a:pPr lvl="3"/>
            <a:r>
              <a:rPr lang="en-IN" dirty="0"/>
              <a:t>📈 Data Visualizations </a:t>
            </a:r>
          </a:p>
          <a:p>
            <a:pPr lvl="3"/>
            <a:r>
              <a:rPr lang="en-IN" dirty="0"/>
              <a:t>🔍 Exploratory Data Analysis </a:t>
            </a:r>
          </a:p>
          <a:p>
            <a:pPr lvl="3"/>
            <a:r>
              <a:rPr lang="en-IN" dirty="0"/>
              <a:t>📋 Statistical Analysis </a:t>
            </a:r>
          </a:p>
          <a:p>
            <a:pPr lvl="3"/>
            <a:r>
              <a:rPr lang="en-IN" dirty="0"/>
              <a:t>💡 Key Insights &amp; Recommendations </a:t>
            </a:r>
          </a:p>
          <a:p>
            <a:pPr lvl="3"/>
            <a:r>
              <a:rPr lang="en-IN" dirty="0"/>
              <a:t>📖 Project Documentation</a:t>
            </a:r>
          </a:p>
          <a:p>
            <a:endParaRPr lang="en-US" dirty="0">
              <a:solidFill>
                <a:schemeClr val="accent3">
                  <a:lumMod val="75000"/>
                </a:schemeClr>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214604" y="370589"/>
            <a:ext cx="11681927" cy="884658"/>
          </a:xfrm>
        </p:spPr>
        <p:txBody>
          <a:bodyPr>
            <a:normAutofit fontScale="90000"/>
          </a:bodyPr>
          <a:lstStyle/>
          <a:p>
            <a:pPr algn="ctr"/>
            <a:r>
              <a:rPr lang="en-IN" sz="3200" dirty="0"/>
              <a:t>VOIS COURSE COMPLETION CERTIFICATE - 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6" name="Picture 15">
            <a:extLst>
              <a:ext uri="{FF2B5EF4-FFF2-40B4-BE49-F238E27FC236}">
                <a16:creationId xmlns:a16="http://schemas.microsoft.com/office/drawing/2014/main" id="{70EF8C95-B0B2-801F-AFAF-F61A44E4773E}"/>
              </a:ext>
            </a:extLst>
          </p:cNvPr>
          <p:cNvPicPr>
            <a:picLocks noChangeAspect="1"/>
          </p:cNvPicPr>
          <p:nvPr/>
        </p:nvPicPr>
        <p:blipFill>
          <a:blip r:embed="rId3"/>
          <a:stretch>
            <a:fillRect/>
          </a:stretch>
        </p:blipFill>
        <p:spPr>
          <a:xfrm>
            <a:off x="1838130" y="1608410"/>
            <a:ext cx="7557795" cy="460932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75957" y="1933237"/>
            <a:ext cx="9113216" cy="1531603"/>
          </a:xfrm>
          <a:prstGeom prst="rect">
            <a:avLst/>
          </a:prstGeom>
        </p:spPr>
        <p:txBody>
          <a:bodyPr anchor="ctr">
            <a:normAutofit fontScale="90000"/>
          </a:bodyPr>
          <a:lstStyle/>
          <a:p>
            <a:pPr algn="ctr"/>
            <a:r>
              <a:rPr lang="en-US" sz="4800" b="1" dirty="0">
                <a:solidFill>
                  <a:schemeClr val="tx1"/>
                </a:solidFill>
              </a:rPr>
              <a:t>THANK YOU FOR YOUR TIME</a:t>
            </a:r>
            <a:br>
              <a:rPr lang="en-US" sz="4800" b="1" dirty="0">
                <a:solidFill>
                  <a:schemeClr val="tx1"/>
                </a:solidFill>
              </a:rPr>
            </a:br>
            <a:r>
              <a:rPr lang="en-US" sz="4800" b="1" dirty="0">
                <a:solidFill>
                  <a:schemeClr val="tx1"/>
                </a:solidFill>
              </a:rPr>
              <a:t>&amp; ATTENTION</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653921" y="3464840"/>
            <a:ext cx="7399174" cy="563110"/>
          </a:xfrm>
        </p:spPr>
        <p:txBody>
          <a:bodyPr>
            <a:normAutofit lnSpcReduction="10000"/>
          </a:bodyPr>
          <a:lstStyle/>
          <a:p>
            <a:r>
              <a:rPr lang="en-IN" sz="1600" b="0" dirty="0">
                <a:solidFill>
                  <a:schemeClr val="tx1"/>
                </a:solidFill>
              </a:rPr>
              <a:t>Seasonal Agriculture Performance Analysis</a:t>
            </a:r>
            <a:br>
              <a:rPr lang="en-IN" sz="1600" b="0" dirty="0">
                <a:solidFill>
                  <a:schemeClr val="tx1"/>
                </a:solidFill>
              </a:rPr>
            </a:br>
            <a:r>
              <a:rPr lang="en-IN" sz="1600" b="0" dirty="0">
                <a:solidFill>
                  <a:schemeClr val="tx1"/>
                </a:solidFill>
              </a:rPr>
              <a:t>Data-Driven Insights for Better Agricultural Planning</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1613</TotalTime>
  <Words>1324</Words>
  <Application>Microsoft Office PowerPoint</Application>
  <PresentationFormat>Widescreen</PresentationFormat>
  <Paragraphs>205</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CONCLUSION</vt:lpstr>
      <vt:lpstr>DATA-DRIVEN RECOMMENDATIONS </vt:lpstr>
      <vt:lpstr>FUTURE SCOPE</vt:lpstr>
      <vt:lpstr>GITHUB LINK</vt:lpstr>
      <vt:lpstr>VOIS COURSE COMPLETION CERTIFICATE - COURSE NAME- DATA VISUALIZATION </vt:lpstr>
      <vt:lpstr>THANK YOU FOR YOUR TIME &amp;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NISHA R</cp:lastModifiedBy>
  <cp:revision>102</cp:revision>
  <dcterms:created xsi:type="dcterms:W3CDTF">2021-07-11T13:13:15Z</dcterms:created>
  <dcterms:modified xsi:type="dcterms:W3CDTF">2026-09-10T14:19:06Z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