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34"/>
  </p:notesMasterIdLst>
  <p:handoutMasterIdLst>
    <p:handoutMasterId r:id="rId3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41" r:id="rId30"/>
    <p:sldId id="342" r:id="rId31"/>
    <p:sldId id="343" r:id="rId32"/>
    <p:sldId id="30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s-nishar/Seasonal_Agriculture_Performance_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5074" y="5005677"/>
            <a:ext cx="6544406" cy="86149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600" b="0" dirty="0">
                <a:solidFill>
                  <a:schemeClr val="tx1"/>
                </a:solidFill>
              </a:rPr>
              <a:t>STUDENT NAME : NISHA R</a:t>
            </a:r>
          </a:p>
          <a:p>
            <a:r>
              <a:rPr lang="en-US" sz="1600" b="0" dirty="0">
                <a:solidFill>
                  <a:schemeClr val="tx1"/>
                </a:solidFill>
              </a:rPr>
              <a:t>AICTE STUDENT ID : </a:t>
            </a:r>
            <a:r>
              <a:rPr lang="en-IN" sz="1600" b="0" dirty="0">
                <a:solidFill>
                  <a:schemeClr val="tx1"/>
                </a:solidFill>
              </a:rPr>
              <a:t>STU6a6b5fa76dafc1785421735</a:t>
            </a:r>
            <a:endParaRPr lang="en-US" sz="1600" b="0" dirty="0">
              <a:solidFill>
                <a:schemeClr val="tx1"/>
              </a:solidFill>
            </a:endParaRPr>
          </a:p>
          <a:p>
            <a:r>
              <a:rPr lang="en-US" sz="1600" b="0" dirty="0">
                <a:solidFill>
                  <a:schemeClr val="tx1"/>
                </a:solidFill>
              </a:rPr>
              <a:t>COLLEGE NAME : RAMCO INSTITUTE OF TECHNOLOGY</a:t>
            </a:r>
            <a:endParaRPr lang="en-IN" sz="16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55" y="2743932"/>
            <a:ext cx="8820199" cy="685068"/>
          </a:xfrm>
        </p:spPr>
        <p:txBody>
          <a:bodyPr>
            <a:normAutofit/>
          </a:bodyPr>
          <a:lstStyle/>
          <a:p>
            <a:r>
              <a:rPr lang="en-IN" b="1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878" y="1506894"/>
            <a:ext cx="10217019" cy="49650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600" dirty="0"/>
              <a:t>Agricultural performance is influenced by seasonal variations in environmental conditions, farming practices, resource availability and market conditions.</a:t>
            </a:r>
          </a:p>
          <a:p>
            <a:r>
              <a:rPr lang="en-IN" sz="1600" dirty="0"/>
              <a:t>However, raw agricultural data does not clearly explain: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How agricultural performance varies across seasons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Which seasonal patterns are significant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How environmental conditions affect outcomes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How resource usage changes between seasons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How economic performance varies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Whether seasonal patterns differ across regions and crops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Therefore, this project analyses agricultural data to identify meaningful seasonal patterns, relationships and variations and derive evidence-based insights for better agricultural planning.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75328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242" y="2915359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23" y="441319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br>
              <a:rPr lang="en-IN" sz="1800" b="0" dirty="0"/>
            </a:br>
            <a:endParaRPr lang="en-IN" sz="18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C1528E-1EAB-0146-2780-F87883DFF0A4}"/>
              </a:ext>
            </a:extLst>
          </p:cNvPr>
          <p:cNvSpPr txBox="1"/>
          <p:nvPr/>
        </p:nvSpPr>
        <p:spPr>
          <a:xfrm>
            <a:off x="576423" y="1623527"/>
            <a:ext cx="8520924" cy="180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FBEA7-0AD6-7E4D-A84A-0A4C7CA94CD0}"/>
              </a:ext>
            </a:extLst>
          </p:cNvPr>
          <p:cNvSpPr txBox="1"/>
          <p:nvPr/>
        </p:nvSpPr>
        <p:spPr>
          <a:xfrm>
            <a:off x="728823" y="1775927"/>
            <a:ext cx="8520924" cy="180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4D4C6-BD5B-0789-F830-CC8130C80B92}"/>
              </a:ext>
            </a:extLst>
          </p:cNvPr>
          <p:cNvSpPr txBox="1"/>
          <p:nvPr/>
        </p:nvSpPr>
        <p:spPr>
          <a:xfrm>
            <a:off x="675957" y="1272316"/>
            <a:ext cx="1014755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This project performs an end-to-end analysis of agricultural activities across different seasons using data analytics techniques.</a:t>
            </a:r>
          </a:p>
          <a:p>
            <a:endParaRPr lang="en-IN" sz="1600" dirty="0"/>
          </a:p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The analysis covers:</a:t>
            </a:r>
          </a:p>
          <a:p>
            <a:pPr lvl="3"/>
            <a:r>
              <a:rPr lang="en-IN" sz="1600" dirty="0"/>
              <a:t>🌾 Crop and agricultural performance </a:t>
            </a:r>
          </a:p>
          <a:p>
            <a:pPr lvl="3"/>
            <a:r>
              <a:rPr lang="en-IN" sz="1600" dirty="0"/>
              <a:t>🌦️ Environmental conditions </a:t>
            </a:r>
          </a:p>
          <a:p>
            <a:pPr lvl="3"/>
            <a:r>
              <a:rPr lang="en-IN" sz="1600" dirty="0"/>
              <a:t>💧 Water and resource utilization </a:t>
            </a:r>
          </a:p>
          <a:p>
            <a:pPr lvl="3"/>
            <a:r>
              <a:rPr lang="en-IN" sz="1600" dirty="0"/>
              <a:t>🧪 Fertilizer and pesticide usage </a:t>
            </a:r>
          </a:p>
          <a:p>
            <a:pPr lvl="3"/>
            <a:r>
              <a:rPr lang="en-IN" sz="1600" dirty="0"/>
              <a:t>🌱 Soil characteristics </a:t>
            </a:r>
          </a:p>
          <a:p>
            <a:pPr lvl="3"/>
            <a:r>
              <a:rPr lang="en-IN" sz="1600" dirty="0"/>
              <a:t>📈 Yield and production </a:t>
            </a:r>
          </a:p>
          <a:p>
            <a:pPr lvl="3"/>
            <a:r>
              <a:rPr lang="en-IN" sz="1600" dirty="0"/>
              <a:t>💰 Cost, revenue and profit </a:t>
            </a:r>
          </a:p>
          <a:p>
            <a:pPr lvl="3"/>
            <a:r>
              <a:rPr lang="en-IN" sz="1600" dirty="0"/>
              <a:t>🗺️ Regional variations </a:t>
            </a:r>
          </a:p>
          <a:p>
            <a:pPr lvl="3"/>
            <a:r>
              <a:rPr lang="en-IN" sz="1600" dirty="0"/>
              <a:t>⚠️ Disease and pest risk </a:t>
            </a:r>
          </a:p>
          <a:p>
            <a:pPr lvl="3"/>
            <a:endParaRPr lang="en-IN" sz="1600" dirty="0"/>
          </a:p>
          <a:p>
            <a:pPr marL="285750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1600" dirty="0"/>
              <a:t>The project transforms raw agricultural data into seasonal insights, performance comparisons and data-driven recommendations.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2728" y="1091430"/>
            <a:ext cx="10726016" cy="4889954"/>
          </a:xfrm>
        </p:spPr>
        <p:txBody>
          <a:bodyPr>
            <a:normAutofit/>
          </a:bodyPr>
          <a:lstStyle/>
          <a:p>
            <a:r>
              <a:rPr lang="en-IN" sz="1600" b="1" dirty="0"/>
              <a:t>Farmers</a:t>
            </a:r>
            <a:r>
              <a:rPr lang="en-IN" sz="1600" dirty="0"/>
              <a:t> 🌾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Understand seasonal crop performance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Plan resources such as water and fertilizer</a:t>
            </a:r>
          </a:p>
          <a:p>
            <a:r>
              <a:rPr lang="en-IN" sz="1600" b="1" dirty="0"/>
              <a:t>Agricultural Planners</a:t>
            </a:r>
            <a:r>
              <a:rPr lang="en-IN" sz="1600" dirty="0"/>
              <a:t> 📊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Compare agricultural performance across seasons and regions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Support seasonal resource and production planning</a:t>
            </a:r>
          </a:p>
          <a:p>
            <a:r>
              <a:rPr lang="en-IN" sz="1600" b="1" dirty="0"/>
              <a:t>Agricultural Researchers</a:t>
            </a:r>
            <a:r>
              <a:rPr lang="en-IN" sz="1600" dirty="0"/>
              <a:t> 🔬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Study relationships between environmental conditions, farming practices and agricultural outcomes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Identify seasonal patterns for further research</a:t>
            </a:r>
          </a:p>
          <a:p>
            <a:r>
              <a:rPr lang="en-IN" sz="1600" b="1" dirty="0"/>
              <a:t>Agricultural Organizations / Departments</a:t>
            </a:r>
            <a:r>
              <a:rPr lang="en-IN" sz="1600" dirty="0"/>
              <a:t> 🏛️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Use data-driven insights for agricultural planning and resource allocation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Identify regions or seasons requiring attention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marL="0" indent="0" algn="just">
              <a:buNone/>
            </a:pP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27" y="288788"/>
            <a:ext cx="10046070" cy="802641"/>
          </a:xfrm>
        </p:spPr>
        <p:txBody>
          <a:bodyPr>
            <a:normAutofit/>
          </a:bodyPr>
          <a:lstStyle/>
          <a:p>
            <a:r>
              <a:rPr lang="en-US" sz="4300" dirty="0"/>
              <a:t>WHO ARE THE END USERS?</a:t>
            </a:r>
            <a:endParaRPr lang="en-IN" sz="4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530220"/>
            <a:ext cx="7640320" cy="3853543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IN" sz="1600" b="1" dirty="0"/>
              <a:t>Python</a:t>
            </a:r>
            <a:r>
              <a:rPr lang="en-IN" sz="1600" dirty="0"/>
              <a:t> – Main programming language for data analysis.</a:t>
            </a:r>
          </a:p>
          <a:p>
            <a:pPr lvl="5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Pandas</a:t>
            </a:r>
          </a:p>
          <a:p>
            <a:pPr lvl="5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NumPy</a:t>
            </a:r>
          </a:p>
          <a:p>
            <a:pPr lvl="5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Matplotlib</a:t>
            </a:r>
          </a:p>
          <a:p>
            <a:pPr lvl="5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Seaborn</a:t>
            </a:r>
          </a:p>
          <a:p>
            <a:pPr lvl="5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SciPy</a:t>
            </a:r>
          </a:p>
          <a:p>
            <a:pPr lvl="5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Google </a:t>
            </a:r>
            <a:r>
              <a:rPr lang="en-IN" sz="1600" dirty="0" err="1"/>
              <a:t>Colab</a:t>
            </a:r>
            <a:endParaRPr lang="en-IN" sz="1600" dirty="0"/>
          </a:p>
          <a:p>
            <a:pPr lvl="1">
              <a:lnSpc>
                <a:spcPct val="100000"/>
              </a:lnSpc>
            </a:pPr>
            <a:r>
              <a:rPr lang="en-IN" sz="1600" b="1" dirty="0"/>
              <a:t>GitHub</a:t>
            </a:r>
            <a:r>
              <a:rPr lang="en-IN" sz="1600" dirty="0"/>
              <a:t> – Version control and project/code repository.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sz="4300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2C7E63-DD7B-8004-4D3C-6087265D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5"/>
          <a:stretch>
            <a:fillRect/>
          </a:stretch>
        </p:blipFill>
        <p:spPr>
          <a:xfrm>
            <a:off x="2261003" y="1793676"/>
            <a:ext cx="3131569" cy="15088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94370C-F41F-60C9-FA98-DBC2F6333AD5}"/>
              </a:ext>
            </a:extLst>
          </p:cNvPr>
          <p:cNvSpPr txBox="1"/>
          <p:nvPr/>
        </p:nvSpPr>
        <p:spPr>
          <a:xfrm>
            <a:off x="978514" y="1275371"/>
            <a:ext cx="1840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Import Libraries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46122-12A8-2BFD-E069-2F74E138DEE9}"/>
              </a:ext>
            </a:extLst>
          </p:cNvPr>
          <p:cNvSpPr txBox="1"/>
          <p:nvPr/>
        </p:nvSpPr>
        <p:spPr>
          <a:xfrm>
            <a:off x="913879" y="3671899"/>
            <a:ext cx="96665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required Python libraries were imported to support data loading, preprocessing, statistical analysis, numerical computation, and visualization of the agricultural dataset.</a:t>
            </a:r>
          </a:p>
          <a:p>
            <a:endParaRPr lang="en-IN" sz="1600" dirty="0"/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IN" sz="1600" dirty="0"/>
              <a:t>Pandas – Data manipulation and analysis 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IN" sz="1600" dirty="0"/>
              <a:t>NumPy – Numerical computations 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IN" sz="1600" dirty="0"/>
              <a:t>Matplotlib – Data visualization 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IN" sz="1600" dirty="0"/>
              <a:t>Seaborn – Statistical visualization 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IN" sz="1600" dirty="0"/>
              <a:t>SciPy – Statistical analysis and hypothesis testing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201586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Load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77CCC-6DC4-3697-2410-62DC232E5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846" y="1766887"/>
            <a:ext cx="4778154" cy="19813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89940-CC75-2C81-4C7F-03F13BC43ACB}"/>
              </a:ext>
            </a:extLst>
          </p:cNvPr>
          <p:cNvSpPr txBox="1"/>
          <p:nvPr/>
        </p:nvSpPr>
        <p:spPr>
          <a:xfrm>
            <a:off x="1171362" y="4225758"/>
            <a:ext cx="50711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Dataset: Seasonal Agricultural Performance Dataset</a:t>
            </a:r>
            <a:br>
              <a:rPr lang="en-IN" sz="1600" dirty="0"/>
            </a:br>
            <a:r>
              <a:rPr lang="en-IN" sz="1600" dirty="0"/>
              <a:t>Records: 4,000</a:t>
            </a:r>
            <a:br>
              <a:rPr lang="en-IN" sz="1600" dirty="0"/>
            </a:br>
            <a:r>
              <a:rPr lang="en-IN" sz="1600" dirty="0"/>
              <a:t>Features: 28</a:t>
            </a:r>
            <a:br>
              <a:rPr lang="en-IN" sz="1600" dirty="0"/>
            </a:br>
            <a:r>
              <a:rPr lang="en-IN" sz="1600" dirty="0"/>
              <a:t>Analysis: Seasonal, environmental, resource, economic, regional and crop-level analysis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2478" y="1130890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Understand the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EB592-E2F0-C338-07BA-E398C8E2C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966" y="1752889"/>
            <a:ext cx="3017782" cy="25721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BC07C3-F64F-BD7F-C64D-44AAD5C92EFC}"/>
              </a:ext>
            </a:extLst>
          </p:cNvPr>
          <p:cNvSpPr txBox="1"/>
          <p:nvPr/>
        </p:nvSpPr>
        <p:spPr>
          <a:xfrm>
            <a:off x="675957" y="4731886"/>
            <a:ext cx="6596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This gives you your Dataset Overview / Descriptive Statistics slide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3148" y="1201586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Data Quality and Cleaning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9194E-E524-5EB4-DC8D-1BC41074E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739" y="1941449"/>
            <a:ext cx="3543607" cy="2184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DE697B-2152-0316-5CBB-547E29D83AC0}"/>
              </a:ext>
            </a:extLst>
          </p:cNvPr>
          <p:cNvSpPr txBox="1"/>
          <p:nvPr/>
        </p:nvSpPr>
        <p:spPr>
          <a:xfrm>
            <a:off x="1082349" y="4475851"/>
            <a:ext cx="46542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3">
                  <a:lumMod val="75000"/>
                </a:schemeClr>
              </a:buClr>
            </a:pPr>
            <a:r>
              <a:rPr lang="en-IN" sz="1600" dirty="0"/>
              <a:t>• Checked missing values</a:t>
            </a:r>
            <a:br>
              <a:rPr lang="en-IN" sz="1600" dirty="0"/>
            </a:br>
            <a:r>
              <a:rPr lang="en-IN" sz="1600" dirty="0"/>
              <a:t>• Identified duplicate records</a:t>
            </a:r>
            <a:br>
              <a:rPr lang="en-IN" sz="1600" dirty="0"/>
            </a:br>
            <a:r>
              <a:rPr lang="en-IN" sz="1600" dirty="0"/>
              <a:t>• Examined data types and unique values</a:t>
            </a:r>
            <a:br>
              <a:rPr lang="en-IN" sz="1600" dirty="0"/>
            </a:br>
            <a:r>
              <a:rPr lang="en-IN" sz="1600" dirty="0"/>
              <a:t>• Removed duplicate records where necessary</a:t>
            </a:r>
            <a:br>
              <a:rPr lang="en-IN" sz="1600" dirty="0"/>
            </a:br>
            <a:r>
              <a:rPr lang="en-IN" sz="1600" dirty="0"/>
              <a:t>• Prepared data for analysis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486" y="1130890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Seasonal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FC4AD1-F1EB-9ADE-A817-23CDC4020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89" y="1795161"/>
            <a:ext cx="4610500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8C3A-2068-B895-C0CF-D64FBAFA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FD63F3-423A-B951-4750-E5D7F9F607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1F68842-A819-A7A1-CB76-894FB4F2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CA2786-56D9-79AE-1AEB-49F9982361C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41C9DE9-FB93-5CDD-3F90-BDCDB6C2868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70CE020-A5AB-155F-2080-A8699BA6E6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201586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Seasonal Yield, Production and Profit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C64408-7BAA-1981-45FC-78AB0E8AB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16" y="1941448"/>
            <a:ext cx="3589331" cy="29013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EA03E8-E30A-34F0-F04B-5B6EF6B97E35}"/>
              </a:ext>
            </a:extLst>
          </p:cNvPr>
          <p:cNvSpPr txBox="1"/>
          <p:nvPr/>
        </p:nvSpPr>
        <p:spPr>
          <a:xfrm>
            <a:off x="6096000" y="1201586"/>
            <a:ext cx="467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Yield visualization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BEFB20-F224-2308-49BD-48DCBEE9B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312" y="1839350"/>
            <a:ext cx="3724202" cy="32271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63A15F-E242-3141-089D-5588B1FAF18B}"/>
              </a:ext>
            </a:extLst>
          </p:cNvPr>
          <p:cNvSpPr txBox="1"/>
          <p:nvPr/>
        </p:nvSpPr>
        <p:spPr>
          <a:xfrm>
            <a:off x="912448" y="5582629"/>
            <a:ext cx="856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Finding: Average agricultural yield varies across seasons, indicating the influence of seasonal conditions on agricultural performance.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F179B4A-AF39-18DC-AF95-34035A6783CF}"/>
              </a:ext>
            </a:extLst>
          </p:cNvPr>
          <p:cNvSpPr/>
          <p:nvPr/>
        </p:nvSpPr>
        <p:spPr>
          <a:xfrm>
            <a:off x="5029200" y="1238478"/>
            <a:ext cx="608602" cy="2955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660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D1D0-09F5-D4B9-8B6C-158CEE4B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53A04C-88DB-0E68-11E1-BEA9A78C2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6CD3BAB-5075-2809-794C-F3956BA0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8E62043-58A1-425F-3C96-CBF22A06635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BCDA57F-64D2-34E0-3102-4A6D9695A23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412F790-71B3-C129-3F4E-2B468FC702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3178" y="1275371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Yield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EA046-507C-3509-93B0-7AFF62F3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31" y="1752891"/>
            <a:ext cx="5528431" cy="3089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6498C7-83F4-F833-459F-2DA7CB8BFF8A}"/>
              </a:ext>
            </a:extLst>
          </p:cNvPr>
          <p:cNvSpPr txBox="1"/>
          <p:nvPr/>
        </p:nvSpPr>
        <p:spPr>
          <a:xfrm>
            <a:off x="957986" y="5290241"/>
            <a:ext cx="9582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Box plot analysis shows the distribution and variation of agricultural yield across different seasons and helps identify unusually high or low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06572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832A-D086-DB67-F83A-9F23324B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B0219-6791-5256-2EC5-45F218779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ABAB3B9-FE9C-4338-7343-C359EC19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03386A3-498A-68D2-3CC9-731DB5E4730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4EB3FD5-53BD-7B73-1CA9-4B0D52D57A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E75B164-E2F6-DE89-50FE-196A805259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486" y="1275371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Statistical Significance using ANOVA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EA89C-E129-3A6E-552C-A2BD7CE7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790" y="1826676"/>
            <a:ext cx="5761219" cy="2894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6E6B81-1E7C-49EF-B4B2-DD8A46FA72A8}"/>
              </a:ext>
            </a:extLst>
          </p:cNvPr>
          <p:cNvSpPr txBox="1"/>
          <p:nvPr/>
        </p:nvSpPr>
        <p:spPr>
          <a:xfrm>
            <a:off x="767404" y="4907902"/>
            <a:ext cx="715657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ANOVA Test </a:t>
            </a:r>
          </a:p>
          <a:p>
            <a:r>
              <a:rPr lang="en-IN" sz="1600" dirty="0"/>
              <a:t>F-statistic </a:t>
            </a:r>
          </a:p>
          <a:p>
            <a:r>
              <a:rPr lang="en-IN" sz="1600" dirty="0"/>
              <a:t>P-value </a:t>
            </a:r>
          </a:p>
          <a:p>
            <a:r>
              <a:rPr lang="en-IN" sz="1600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41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D42C-7CF3-445C-3C20-3AB9D21D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9F4E0F-7F05-1E9F-AD14-18440E94D9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899F0AA-C12D-77DD-30C8-538AF6DE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AC60BD8-82EF-02A8-5227-41D59B71E62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30E9AD9-8EC0-DADF-4005-364FCEE4177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45B951A-AE04-1BC5-8ED0-A0DB4A973A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463929"/>
            <a:ext cx="10953760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Environmental Conditions          Environmental factors vs yield                  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9D1AD2-57F0-E6A7-ADD9-00BD45AB0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51" y="2130007"/>
            <a:ext cx="3391194" cy="2103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C3BCFC-E43B-366E-F9B6-D0DD50F6D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16" y="2130007"/>
            <a:ext cx="3624727" cy="2209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781E57-BC79-09B9-6BB9-CD5229732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053" y="2130008"/>
            <a:ext cx="3816220" cy="22099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F6B7CE-B1AF-A659-05B5-1B7985125C1D}"/>
              </a:ext>
            </a:extLst>
          </p:cNvPr>
          <p:cNvSpPr txBox="1"/>
          <p:nvPr/>
        </p:nvSpPr>
        <p:spPr>
          <a:xfrm>
            <a:off x="526667" y="5029449"/>
            <a:ext cx="102595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Environmental variables show different levels of association with agricultural yield. Correlation analysis helps identify which environmental factors are most closely related to yield.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E9388B5-E2CA-522A-DCC1-19F4761A2286}"/>
              </a:ext>
            </a:extLst>
          </p:cNvPr>
          <p:cNvSpPr/>
          <p:nvPr/>
        </p:nvSpPr>
        <p:spPr>
          <a:xfrm>
            <a:off x="7573058" y="1566275"/>
            <a:ext cx="491990" cy="195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07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FEED-82BC-8438-88BC-9F1BE81D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6E226E-8FD9-FFAC-1225-759535D219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EAA3806-0B23-F677-58ED-265D3201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B266D1D-C647-F7FB-D778-E0E53F4B2E8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546C917-419C-1333-05B0-6577F671ADF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F215A20-B90F-5BDD-8F12-D13C769739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Rainfall vs Yield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C673D-FC62-1861-1CEF-35DDF565E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711" y="1909212"/>
            <a:ext cx="4404742" cy="28214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D4957A-516F-AACA-B07B-77DEACBF2D0C}"/>
              </a:ext>
            </a:extLst>
          </p:cNvPr>
          <p:cNvSpPr txBox="1"/>
          <p:nvPr/>
        </p:nvSpPr>
        <p:spPr>
          <a:xfrm>
            <a:off x="675957" y="5147282"/>
            <a:ext cx="8593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scatter plot examines the relationship between rainfall and agricultural yield across different seasons.</a:t>
            </a:r>
          </a:p>
        </p:txBody>
      </p:sp>
    </p:spTree>
    <p:extLst>
      <p:ext uri="{BB962C8B-B14F-4D97-AF65-F5344CB8AC3E}">
        <p14:creationId xmlns:p14="http://schemas.microsoft.com/office/powerpoint/2010/main" val="67427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EC18-36BC-0D3A-77E5-AFFEB745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01FB3F-4CD7-992E-5821-069E5E62E2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8FFB497-F4A0-8A48-F21A-B803406C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F5BC660-0150-C326-BC19-75E7F50F887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D94805C-20D4-F471-E911-6FCF3FF714D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123082F-1DA5-0A73-936B-20FAF045A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9172" y="1201586"/>
            <a:ext cx="9428517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Resource Utilization                                             Water-use efficiency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500C97-64FE-8DE0-E2B0-234392088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72" y="1810277"/>
            <a:ext cx="4320914" cy="28561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4794E1-EA1D-3C82-CA4D-3F240F59D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474" y="1941449"/>
            <a:ext cx="4762913" cy="2724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C872B0-4C68-A974-3DC9-2B16D016F5A9}"/>
              </a:ext>
            </a:extLst>
          </p:cNvPr>
          <p:cNvSpPr txBox="1"/>
          <p:nvPr/>
        </p:nvSpPr>
        <p:spPr>
          <a:xfrm>
            <a:off x="927883" y="5364026"/>
            <a:ext cx="9634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Seasonal comparison reveals variations in water consumption, fertilizer usage, pesticide usage and water-use efficiency.</a:t>
            </a:r>
          </a:p>
        </p:txBody>
      </p:sp>
    </p:spTree>
    <p:extLst>
      <p:ext uri="{BB962C8B-B14F-4D97-AF65-F5344CB8AC3E}">
        <p14:creationId xmlns:p14="http://schemas.microsoft.com/office/powerpoint/2010/main" val="282227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6977-9B4B-F5F9-01C8-117DB61C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5C3569-56A6-346D-7DF1-5BF401FD1C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0750B2C-BA9E-FACE-D3E5-B7FDCF19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773CD4E-6F4B-303A-709A-3496B08A363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682B66E-B036-BF62-C264-4F95FDD129E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04DEA8A-7089-AF67-C04D-789DC1AD31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1431693"/>
            <a:ext cx="9456509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Irrigation Method vs Yield                                     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272CB-351A-82E2-2DE3-D965C330A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79" y="2304619"/>
            <a:ext cx="3360711" cy="2324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F969C2-FABB-F856-8416-BFB965849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192" y="2304619"/>
            <a:ext cx="4473328" cy="253768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EA39593-4F15-3ECF-AE97-F1297D777A16}"/>
              </a:ext>
            </a:extLst>
          </p:cNvPr>
          <p:cNvSpPr/>
          <p:nvPr/>
        </p:nvSpPr>
        <p:spPr>
          <a:xfrm>
            <a:off x="4599992" y="1493549"/>
            <a:ext cx="541176" cy="229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267E0-0102-EAD3-8C2F-DA69DCDBCDC8}"/>
              </a:ext>
            </a:extLst>
          </p:cNvPr>
          <p:cNvSpPr txBox="1"/>
          <p:nvPr/>
        </p:nvSpPr>
        <p:spPr>
          <a:xfrm>
            <a:off x="807162" y="5439669"/>
            <a:ext cx="9456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Irrigation methods show different yield and water-use patterns across seasons, supporting resource planning and irrigation strategy evaluation.</a:t>
            </a:r>
          </a:p>
        </p:txBody>
      </p:sp>
    </p:spTree>
    <p:extLst>
      <p:ext uri="{BB962C8B-B14F-4D97-AF65-F5344CB8AC3E}">
        <p14:creationId xmlns:p14="http://schemas.microsoft.com/office/powerpoint/2010/main" val="32860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A9E2-3CED-36C6-4D6C-6C1505D6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408316-8F9F-3374-78F6-FC673FC58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709854A-8F80-84C9-F394-24DA1427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C3FEA23-6DEE-3C62-6488-0CAF5CE0F19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CF880B6-92ED-3D36-BD38-EAB9CC4F776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12E212-F248-F978-695C-9C5625AA9317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759797" y="1275371"/>
            <a:ext cx="10315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Economic Performance                                        </a:t>
            </a:r>
            <a:r>
              <a:rPr lang="en-IN" sz="1800" dirty="0"/>
              <a:t>Profit visualization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010A7A-9206-ADA6-496E-4329FA77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26" y="2015234"/>
            <a:ext cx="3299746" cy="25381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43CC09-F2D7-050D-99D3-2A7007BA8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253" y="2015234"/>
            <a:ext cx="4419983" cy="25381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141F09-683B-936A-B2B1-BBF4324199A4}"/>
              </a:ext>
            </a:extLst>
          </p:cNvPr>
          <p:cNvSpPr txBox="1"/>
          <p:nvPr/>
        </p:nvSpPr>
        <p:spPr>
          <a:xfrm>
            <a:off x="759797" y="5147282"/>
            <a:ext cx="9382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Economic analysis compares seasonal cost, revenue and profit to identify financially stronger and weaker agricultural periods.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C9F1E06-7AE8-F83D-CAC2-C0BEC1F3DA53}"/>
              </a:ext>
            </a:extLst>
          </p:cNvPr>
          <p:cNvSpPr/>
          <p:nvPr/>
        </p:nvSpPr>
        <p:spPr>
          <a:xfrm>
            <a:off x="4345694" y="1407166"/>
            <a:ext cx="422249" cy="201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92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4B6C3-5CF7-3C95-13AF-E4C5E006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ED275A-D9C2-BA5E-F5CC-FD281598C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EC4131D-423D-DFFA-AFC9-8E6D0161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50CB6FC-3269-1103-114A-FAA7E4D4217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6AC5D5E-7442-8694-900B-D32DE19F380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B296F98-BDAD-B840-6632-D965F78A09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1431693"/>
            <a:ext cx="9661783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Crop + Season Analysis                                               Heatmap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803CB-1574-2A53-2B88-9B8A27F35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27" y="2015234"/>
            <a:ext cx="3368332" cy="165368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D1E066E-4688-52D0-E5EB-6A140339171D}"/>
              </a:ext>
            </a:extLst>
          </p:cNvPr>
          <p:cNvSpPr/>
          <p:nvPr/>
        </p:nvSpPr>
        <p:spPr>
          <a:xfrm>
            <a:off x="4525347" y="1513614"/>
            <a:ext cx="625151" cy="3136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F93265-FBAA-8833-6981-D00076E8A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719" y="1941449"/>
            <a:ext cx="4534293" cy="3048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8370AB-1E06-4BFC-952E-964ADC6328C4}"/>
              </a:ext>
            </a:extLst>
          </p:cNvPr>
          <p:cNvSpPr txBox="1"/>
          <p:nvPr/>
        </p:nvSpPr>
        <p:spPr>
          <a:xfrm>
            <a:off x="1026367" y="5411755"/>
            <a:ext cx="8685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Crop-season analysis reveals that agricultural performance varies according to the interaction between crop type and season.</a:t>
            </a:r>
          </a:p>
        </p:txBody>
      </p:sp>
    </p:spTree>
    <p:extLst>
      <p:ext uri="{BB962C8B-B14F-4D97-AF65-F5344CB8AC3E}">
        <p14:creationId xmlns:p14="http://schemas.microsoft.com/office/powerpoint/2010/main" val="273919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CCC2-3AE2-7A8B-3060-E8019124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9DAE1D-82B9-E746-BAFD-49F3871010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4F7E06-7198-9993-A87E-E4906A2D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05F43E5-63EE-9205-CB89-0FCF19C5E38F}"/>
              </a:ext>
            </a:extLst>
          </p:cNvPr>
          <p:cNvSpPr txBox="1">
            <a:spLocks/>
          </p:cNvSpPr>
          <p:nvPr/>
        </p:nvSpPr>
        <p:spPr>
          <a:xfrm>
            <a:off x="807164" y="1098654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3E7CE65-1F6C-B1E7-A9D5-4E3EE5308E8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2D0A61E-A6F5-C904-4F80-4E3A8CFAAC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192933"/>
            <a:ext cx="10874763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Regional Seasonal Comparison                               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722DF-4780-DF02-4333-49FC50B78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929651"/>
            <a:ext cx="3696020" cy="2315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D33364-0905-770B-828D-43DA9BFC4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835" y="1929650"/>
            <a:ext cx="4816257" cy="300741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9CDD622-3493-5DA6-6641-9593E4125D60}"/>
              </a:ext>
            </a:extLst>
          </p:cNvPr>
          <p:cNvSpPr/>
          <p:nvPr/>
        </p:nvSpPr>
        <p:spPr>
          <a:xfrm>
            <a:off x="4723570" y="1245637"/>
            <a:ext cx="494522" cy="214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43A7B-F339-30C9-E8AB-2C83AB6F0646}"/>
              </a:ext>
            </a:extLst>
          </p:cNvPr>
          <p:cNvSpPr txBox="1"/>
          <p:nvPr/>
        </p:nvSpPr>
        <p:spPr>
          <a:xfrm>
            <a:off x="675957" y="5418278"/>
            <a:ext cx="10026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Regional analysis identifies differences in seasonal agricultural performance across states, supporting region-specific planning.</a:t>
            </a:r>
          </a:p>
        </p:txBody>
      </p:sp>
    </p:spTree>
    <p:extLst>
      <p:ext uri="{BB962C8B-B14F-4D97-AF65-F5344CB8AC3E}">
        <p14:creationId xmlns:p14="http://schemas.microsoft.com/office/powerpoint/2010/main" val="406047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B5F32-7B6C-BFA1-D46D-3FD47530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7C3FD6-8BF8-5E8E-E35C-66718531B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ED9426-1AAC-5976-0032-831BC374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12660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AFF4D39-A38E-FA3A-2684-BF04063D491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BF267BF-ED44-D511-B95E-B58BDC43C69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20B9CE0-D947-6E84-513D-6FE4092928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0511" y="877728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Correlation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7946CD-D2F0-5E8C-205E-C64473B07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19" y="1116488"/>
            <a:ext cx="5061181" cy="4926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3AB66B-5EA7-2861-9CD7-FB0A5DD7FF09}"/>
              </a:ext>
            </a:extLst>
          </p:cNvPr>
          <p:cNvSpPr txBox="1"/>
          <p:nvPr/>
        </p:nvSpPr>
        <p:spPr>
          <a:xfrm>
            <a:off x="877078" y="6168330"/>
            <a:ext cx="89387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Correlation analysis identifies relationships among environmental conditions, farming inputs, resource utilization, yield, economic outcomes and disease/pest risk.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46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726-D853-A4EF-364D-F6BC82B7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69C9A5-67BA-34A6-82F0-89DE873907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8B1A68-2650-1DEF-3B17-4D62DE1F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659D406-A086-4684-DF75-BBFFD65BC9E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FA36B03-E5F8-0644-4564-2696313F1FB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72863B0-7C97-EC51-C974-9DF1D6DC48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9842" y="1201586"/>
            <a:ext cx="9689774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Disease and Pest Risk                                           Visualization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72C8C-9EE5-D47F-62D4-69037A37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06" y="2126582"/>
            <a:ext cx="3406435" cy="230398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761BD19-F312-873F-F4D6-30F15CEB50E9}"/>
              </a:ext>
            </a:extLst>
          </p:cNvPr>
          <p:cNvSpPr/>
          <p:nvPr/>
        </p:nvSpPr>
        <p:spPr>
          <a:xfrm>
            <a:off x="4432041" y="1275371"/>
            <a:ext cx="522514" cy="3075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F4B983-F530-EAF4-1705-41752AD1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581" y="2126583"/>
            <a:ext cx="4138019" cy="23039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78B0B1-AC9C-DCDB-86BC-EAEE94406CA7}"/>
              </a:ext>
            </a:extLst>
          </p:cNvPr>
          <p:cNvSpPr txBox="1"/>
          <p:nvPr/>
        </p:nvSpPr>
        <p:spPr>
          <a:xfrm>
            <a:off x="675957" y="5439669"/>
            <a:ext cx="9783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Disease and pest risk varies across seasons, highlighting periods that may require increased monitoring and preventive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3287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005E-6697-E25C-04A9-A4868712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C7B021-3E34-E07D-6A7B-6F25DEC4F0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E0F4435-EDAF-697B-977C-32C99D1D0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FBECB-667A-CF9B-96F3-4B14A5EC50B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1C01B5B-656A-D43B-045A-FF4F3923F4F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A2A722E-94A9-3B84-3639-455508C726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537714"/>
            <a:ext cx="10548191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Automatically Find Best and Lowest Performing Seasons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7A603-DBCF-9412-027F-6CF48598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997" y="2203792"/>
            <a:ext cx="3170195" cy="2881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FF75C3-E897-4356-A99C-4DFD86DE7DE0}"/>
              </a:ext>
            </a:extLst>
          </p:cNvPr>
          <p:cNvSpPr txBox="1"/>
          <p:nvPr/>
        </p:nvSpPr>
        <p:spPr>
          <a:xfrm>
            <a:off x="675957" y="5486400"/>
            <a:ext cx="9718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analysis identifies the highest- and lowest-performing seasons based on average agricultural yield, enabling comparison of seasonal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43881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7364-68CB-C5E1-AF60-0988C8C7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F847EA-5A85-CC78-3ED1-D35E4450E7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7082DF-D1C5-805A-0FA9-41968CCA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DDE12C6-22D6-E252-9C46-0988E066B58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ADEAE26-0F5D-2F6D-D22F-9B91FEBD95F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15F4877-C037-D622-768B-C4B2A0FE3F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0903" y="1461866"/>
            <a:ext cx="5155097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Find Best Crop + Season Combination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7EBF4C-BA73-ED6D-718B-4C38E7AD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865" y="2125882"/>
            <a:ext cx="3215919" cy="2904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DEE39-096B-01B6-BDE1-54066556D52F}"/>
              </a:ext>
            </a:extLst>
          </p:cNvPr>
          <p:cNvSpPr txBox="1"/>
          <p:nvPr/>
        </p:nvSpPr>
        <p:spPr>
          <a:xfrm>
            <a:off x="558348" y="5511370"/>
            <a:ext cx="9649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Crop-season analysis ranks crop and season combinations based on average yield and profit to identify the most promising combinations.</a:t>
            </a:r>
          </a:p>
        </p:txBody>
      </p:sp>
    </p:spTree>
    <p:extLst>
      <p:ext uri="{BB962C8B-B14F-4D97-AF65-F5344CB8AC3E}">
        <p14:creationId xmlns:p14="http://schemas.microsoft.com/office/powerpoint/2010/main" val="123738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3799-005D-7DDB-3EE7-2F8074759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F41E3F-48BA-F1FF-E4E5-E919291EC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59440F1-1CC3-5C41-352F-2370A6F8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B1ED847-72A6-71D8-857C-1113F5DF89C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AEF1F04-E2F1-5E4B-5A51-EADB2DA3FE2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763D3FA-46C4-A4C3-9802-C344FF0D32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9172" y="1535651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Final Seasonal Summary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FE0D3-B2B1-E033-2FE9-55178EB6D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98" y="2032583"/>
            <a:ext cx="4122777" cy="32897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C4388-3851-C47B-E7AD-258CBF836BCA}"/>
              </a:ext>
            </a:extLst>
          </p:cNvPr>
          <p:cNvSpPr txBox="1"/>
          <p:nvPr/>
        </p:nvSpPr>
        <p:spPr>
          <a:xfrm>
            <a:off x="779172" y="5640923"/>
            <a:ext cx="9005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 consolidated seasonal summary compares yield, production, water usage, water-use efficiency, cost, revenue, profit, and disease risk to provide an overall view of agricultural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05223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3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C0C44-13AA-3417-CFD4-0B9DEFCEF491}"/>
              </a:ext>
            </a:extLst>
          </p:cNvPr>
          <p:cNvSpPr txBox="1"/>
          <p:nvPr/>
        </p:nvSpPr>
        <p:spPr>
          <a:xfrm>
            <a:off x="1286853" y="1782395"/>
            <a:ext cx="946124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3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Machine Learning-Based Yield Prediction</a:t>
            </a:r>
          </a:p>
          <a:p>
            <a:pPr lvl="3">
              <a:buClr>
                <a:schemeClr val="accent3">
                  <a:lumMod val="75000"/>
                </a:schemeClr>
              </a:buClr>
            </a:pPr>
            <a:endParaRPr lang="en-IN" sz="1600" dirty="0"/>
          </a:p>
          <a:p>
            <a:pPr marL="1657350" lvl="3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Region and season-based crop recommendation</a:t>
            </a:r>
          </a:p>
          <a:p>
            <a:pPr lvl="3">
              <a:buClr>
                <a:schemeClr val="accent3">
                  <a:lumMod val="75000"/>
                </a:schemeClr>
              </a:buClr>
            </a:pPr>
            <a:endParaRPr lang="en-IN" sz="1600" dirty="0"/>
          </a:p>
          <a:p>
            <a:pPr marL="1657350" lvl="3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Real-Time Weather Integration</a:t>
            </a:r>
          </a:p>
          <a:p>
            <a:pPr lvl="3">
              <a:buClr>
                <a:schemeClr val="accent3">
                  <a:lumMod val="75000"/>
                </a:schemeClr>
              </a:buClr>
            </a:pPr>
            <a:endParaRPr lang="en-IN" sz="1600" dirty="0"/>
          </a:p>
          <a:p>
            <a:pPr marL="1657350" lvl="3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Interactive agricultural analytics dashboard</a:t>
            </a:r>
          </a:p>
          <a:p>
            <a:pPr lvl="3">
              <a:buClr>
                <a:schemeClr val="accent3">
                  <a:lumMod val="75000"/>
                </a:schemeClr>
              </a:buClr>
            </a:pPr>
            <a:endParaRPr lang="en-IN" sz="1600" dirty="0"/>
          </a:p>
          <a:p>
            <a:pPr marL="1657350" lvl="3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Disease, resource-use, and market-price forecasting</a:t>
            </a:r>
          </a:p>
          <a:p>
            <a:pPr lvl="3">
              <a:buClr>
                <a:schemeClr val="accent3">
                  <a:lumMod val="75000"/>
                </a:schemeClr>
              </a:buClr>
            </a:pPr>
            <a:endParaRPr lang="en-IN" sz="1600" dirty="0"/>
          </a:p>
          <a:p>
            <a:pPr marL="1657350" lvl="3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Scalable Agricultural Decision-Support System</a:t>
            </a:r>
          </a:p>
          <a:p>
            <a:pPr lvl="3">
              <a:buClr>
                <a:schemeClr val="accent3">
                  <a:lumMod val="75000"/>
                </a:schemeClr>
              </a:buClr>
            </a:pPr>
            <a:endParaRPr lang="en-IN" sz="1600" dirty="0"/>
          </a:p>
          <a:p>
            <a:pPr marL="1657350" lvl="3" indent="-28575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Market Price Forecasting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3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35051" y="1201586"/>
            <a:ext cx="98796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hlinkClick r:id="rId3"/>
              </a:rPr>
              <a:t>https://github.com/its-nishar/Seasonal_Agriculture_Performance_Analysis.git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IN" dirty="0"/>
              <a:t>Project Repository</a:t>
            </a:r>
            <a:br>
              <a:rPr lang="en-IN" dirty="0"/>
            </a:br>
            <a:r>
              <a:rPr lang="en-IN" dirty="0"/>
              <a:t>Complete source code, dataset, analysis, visualizations, and project documentation are available in the GitHub repository.</a:t>
            </a:r>
          </a:p>
          <a:p>
            <a:endParaRPr lang="en-IN" dirty="0"/>
          </a:p>
          <a:p>
            <a:r>
              <a:rPr lang="en-IN" dirty="0"/>
              <a:t>Repository Includes:</a:t>
            </a:r>
          </a:p>
          <a:p>
            <a:pPr lvl="3"/>
            <a:r>
              <a:rPr lang="en-IN" dirty="0"/>
              <a:t>📓 Google </a:t>
            </a:r>
            <a:r>
              <a:rPr lang="en-IN" dirty="0" err="1"/>
              <a:t>Colab</a:t>
            </a:r>
            <a:r>
              <a:rPr lang="en-IN" dirty="0"/>
              <a:t> </a:t>
            </a:r>
          </a:p>
          <a:p>
            <a:pPr lvl="3"/>
            <a:r>
              <a:rPr lang="en-IN" dirty="0"/>
              <a:t>📊 Agricultural Dataset </a:t>
            </a:r>
          </a:p>
          <a:p>
            <a:pPr lvl="3"/>
            <a:r>
              <a:rPr lang="en-IN" dirty="0"/>
              <a:t>📈 Data Visualizations </a:t>
            </a:r>
          </a:p>
          <a:p>
            <a:pPr lvl="3"/>
            <a:r>
              <a:rPr lang="en-IN" dirty="0"/>
              <a:t>🔍 Exploratory Data Analysis </a:t>
            </a:r>
          </a:p>
          <a:p>
            <a:pPr lvl="3"/>
            <a:r>
              <a:rPr lang="en-IN" dirty="0"/>
              <a:t>📋 Statistical Analysis </a:t>
            </a:r>
          </a:p>
          <a:p>
            <a:pPr lvl="3"/>
            <a:r>
              <a:rPr lang="en-IN" dirty="0"/>
              <a:t>💡 Key Insights &amp; Recommendations </a:t>
            </a:r>
          </a:p>
          <a:p>
            <a:pPr lvl="3"/>
            <a:r>
              <a:rPr lang="en-IN" dirty="0"/>
              <a:t>📖 Project Documentation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4" y="370589"/>
            <a:ext cx="11681927" cy="88465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dirty="0"/>
              <a:t>VOIS COURSE COMPLETION CERTIFICATE - 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EF8C95-B0B2-801F-AFAF-F61A44E47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130" y="1608410"/>
            <a:ext cx="7557795" cy="460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3237"/>
            <a:ext cx="9113216" cy="1531603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 FOR YOUR TIME</a:t>
            </a:r>
            <a:br>
              <a:rPr lang="en-US" sz="4800" b="1" dirty="0">
                <a:solidFill>
                  <a:schemeClr val="tx1"/>
                </a:solidFill>
              </a:rPr>
            </a:br>
            <a:r>
              <a:rPr lang="en-US" sz="4800" b="1" dirty="0">
                <a:solidFill>
                  <a:schemeClr val="tx1"/>
                </a:solidFill>
              </a:rPr>
              <a:t>&amp; ATTENTION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53921" y="3464840"/>
            <a:ext cx="7399174" cy="563110"/>
          </a:xfrm>
        </p:spPr>
        <p:txBody>
          <a:bodyPr>
            <a:normAutofit lnSpcReduction="10000"/>
          </a:bodyPr>
          <a:lstStyle/>
          <a:p>
            <a:r>
              <a:rPr lang="en-IN" sz="1600" b="0" dirty="0">
                <a:solidFill>
                  <a:schemeClr val="tx1"/>
                </a:solidFill>
              </a:rPr>
              <a:t>Seasonal Agriculture Performance Analysis</a:t>
            </a:r>
            <a:br>
              <a:rPr lang="en-IN" sz="1600" b="0" dirty="0">
                <a:solidFill>
                  <a:schemeClr val="tx1"/>
                </a:solidFill>
              </a:rPr>
            </a:br>
            <a:r>
              <a:rPr lang="en-IN" sz="1600" b="0" dirty="0">
                <a:solidFill>
                  <a:schemeClr val="tx1"/>
                </a:solidFill>
              </a:rPr>
              <a:t>Data-Driven Insights for Better Agricultural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1534</TotalTime>
  <Words>942</Words>
  <Application>Microsoft Office PowerPoint</Application>
  <PresentationFormat>Widescreen</PresentationFormat>
  <Paragraphs>156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COURSE NAME- DATA VISUALIZATION </vt:lpstr>
      <vt:lpstr>THANK YOU FOR YOUR TIME &amp;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NISHA R</cp:lastModifiedBy>
  <cp:revision>100</cp:revision>
  <dcterms:created xsi:type="dcterms:W3CDTF">2021-07-11T13:13:15Z</dcterms:created>
  <dcterms:modified xsi:type="dcterms:W3CDTF">2026-09-04T13:14:41Z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